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6" y="36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88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goal: compare two trained CNN + LSTM captioning models, then use the transformer model as a final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Caption Generation | DSC 680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26EE1-2588-B2F3-E274-7AFF4364E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7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6F7AB3B-03D9-B0FE-F4C8-7E2AB81DAAEE}"/>
              </a:ext>
            </a:extLst>
          </p:cNvPr>
          <p:cNvSpPr/>
          <p:nvPr/>
        </p:nvSpPr>
        <p:spPr>
          <a:xfrm>
            <a:off x="889000" y="1168400"/>
            <a:ext cx="939800" cy="76200"/>
          </a:xfrm>
          <a:prstGeom prst="rect">
            <a:avLst/>
          </a:prstGeom>
          <a:solidFill>
            <a:srgbClr val="5C6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6E59A6-E49B-70A8-3790-F4941E77CA3E}"/>
              </a:ext>
            </a:extLst>
          </p:cNvPr>
          <p:cNvSpPr txBox="1"/>
          <p:nvPr/>
        </p:nvSpPr>
        <p:spPr>
          <a:xfrm>
            <a:off x="889000" y="1600200"/>
            <a:ext cx="863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556265"/>
                </a:solidFill>
                <a:latin typeface="Aptos" panose="020B0004020202020204" pitchFamily="34" charset="0"/>
              </a:rPr>
              <a:t>IMAGE CAPTION GENERATION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EFAA2-C59F-23E4-2B1D-A95CF874549A}"/>
              </a:ext>
            </a:extLst>
          </p:cNvPr>
          <p:cNvSpPr txBox="1"/>
          <p:nvPr/>
        </p:nvSpPr>
        <p:spPr>
          <a:xfrm>
            <a:off x="863600" y="2235200"/>
            <a:ext cx="9652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1C251E"/>
                </a:solidFill>
                <a:latin typeface="Aptos" panose="020B0004020202020204" pitchFamily="34" charset="0"/>
              </a:rPr>
              <a:t>Comparative Analysis of Deep Learning Architectures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F9305-208E-C85A-345D-6D14C3B5AB04}"/>
              </a:ext>
            </a:extLst>
          </p:cNvPr>
          <p:cNvSpPr txBox="1"/>
          <p:nvPr/>
        </p:nvSpPr>
        <p:spPr>
          <a:xfrm>
            <a:off x="914400" y="3810000"/>
            <a:ext cx="901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56265"/>
                </a:solidFill>
                <a:latin typeface="Aptos" panose="020B0004020202020204" pitchFamily="34" charset="0"/>
              </a:rPr>
              <a:t>MobileNetV2 + LSTM vs. VGG16 + LSTM, with a final pretrained ViT-GPT2 comparison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667F83-0054-48AC-A293-3AE99910DC9F}"/>
              </a:ext>
            </a:extLst>
          </p:cNvPr>
          <p:cNvCxnSpPr/>
          <p:nvPr/>
        </p:nvCxnSpPr>
        <p:spPr>
          <a:xfrm>
            <a:off x="914400" y="4902200"/>
            <a:ext cx="91186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3CCE5F-8418-37D1-D460-7F9C0A4051D3}"/>
              </a:ext>
            </a:extLst>
          </p:cNvPr>
          <p:cNvSpPr txBox="1"/>
          <p:nvPr/>
        </p:nvSpPr>
        <p:spPr>
          <a:xfrm>
            <a:off x="914400" y="53086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BY: Joanna Sierra-Mendoza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63F9D-48EB-3CF0-1A17-1BA9ED881FD8}"/>
              </a:ext>
            </a:extLst>
          </p:cNvPr>
          <p:cNvSpPr txBox="1"/>
          <p:nvPr/>
        </p:nvSpPr>
        <p:spPr>
          <a:xfrm>
            <a:off x="914400" y="57150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56265"/>
                </a:solidFill>
                <a:latin typeface="Aptos" panose="020B0004020202020204" pitchFamily="34" charset="0"/>
              </a:rPr>
              <a:t>DSC 680: Applied Data Science | May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7ED324-FA55-CCED-3029-6B2A4758B3D2}"/>
              </a:ext>
            </a:extLst>
          </p:cNvPr>
          <p:cNvSpPr/>
          <p:nvPr/>
        </p:nvSpPr>
        <p:spPr>
          <a:xfrm>
            <a:off x="9702800" y="1350070"/>
            <a:ext cx="1041400" cy="1041400"/>
          </a:xfrm>
          <a:prstGeom prst="rect">
            <a:avLst/>
          </a:prstGeom>
          <a:solidFill>
            <a:srgbClr val="BEEC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296B85-A91D-6696-B3B6-44F69FAB9D77}"/>
              </a:ext>
            </a:extLst>
          </p:cNvPr>
          <p:cNvSpPr/>
          <p:nvPr/>
        </p:nvSpPr>
        <p:spPr>
          <a:xfrm>
            <a:off x="10744200" y="2768600"/>
            <a:ext cx="1041400" cy="1041400"/>
          </a:xfrm>
          <a:prstGeom prst="rect">
            <a:avLst/>
          </a:prstGeom>
          <a:solidFill>
            <a:srgbClr val="C6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7CD96B-3A4D-E765-D33A-4924062DC8EF}"/>
              </a:ext>
            </a:extLst>
          </p:cNvPr>
          <p:cNvSpPr/>
          <p:nvPr/>
        </p:nvSpPr>
        <p:spPr>
          <a:xfrm>
            <a:off x="9801469" y="4205248"/>
            <a:ext cx="1041400" cy="1041400"/>
          </a:xfrm>
          <a:prstGeom prst="rect">
            <a:avLst/>
          </a:prstGeom>
          <a:solidFill>
            <a:srgbClr val="F2E5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DF37F9-6009-761B-1EBD-D47B6ADC0B5C}"/>
              </a:ext>
            </a:extLst>
          </p:cNvPr>
          <p:cNvSpPr/>
          <p:nvPr/>
        </p:nvSpPr>
        <p:spPr>
          <a:xfrm>
            <a:off x="10654323" y="5623778"/>
            <a:ext cx="1041400" cy="1041400"/>
          </a:xfrm>
          <a:prstGeom prst="rect">
            <a:avLst/>
          </a:prstGeom>
          <a:solidFill>
            <a:srgbClr val="D3D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357C6B"/>
          </a:solidFill>
          <a:ln w="12700">
            <a:solidFill>
              <a:srgbClr val="357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/>
              <a:t>2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1D4911-4D4C-7571-0BB4-218F13AB2745}"/>
              </a:ext>
            </a:extLst>
          </p:cNvPr>
          <p:cNvSpPr txBox="1"/>
          <p:nvPr/>
        </p:nvSpPr>
        <p:spPr>
          <a:xfrm>
            <a:off x="502920" y="711200"/>
            <a:ext cx="10414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2F291F"/>
                </a:solidFill>
                <a:latin typeface="Aptos Display" panose="020B0004020202020204" pitchFamily="34" charset="0"/>
              </a:rPr>
              <a:t>Image captioning makes large image collections easier to search and use.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DB3D83-12AC-FEB0-3330-898894EB0298}"/>
              </a:ext>
            </a:extLst>
          </p:cNvPr>
          <p:cNvSpPr txBox="1"/>
          <p:nvPr/>
        </p:nvSpPr>
        <p:spPr>
          <a:xfrm>
            <a:off x="736600" y="1803400"/>
            <a:ext cx="876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700">
                <a:solidFill>
                  <a:srgbClr val="4A4339"/>
                </a:solidFill>
                <a:latin typeface="Aptos" panose="020B0004020202020204" pitchFamily="34" charset="0"/>
              </a:rPr>
              <a:t>Many organizations store large numbers of images. Without captions, those images are harder to search, organize, and understand at scale.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86E9F7-0EF2-6F3B-582F-D5529E90CBFE}"/>
              </a:ext>
            </a:extLst>
          </p:cNvPr>
          <p:cNvCxnSpPr/>
          <p:nvPr/>
        </p:nvCxnSpPr>
        <p:spPr>
          <a:xfrm>
            <a:off x="736600" y="2997200"/>
            <a:ext cx="10312400" cy="0"/>
          </a:xfrm>
          <a:prstGeom prst="line">
            <a:avLst/>
          </a:prstGeom>
          <a:ln w="12700">
            <a:solidFill>
              <a:srgbClr val="C1CE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E6134D-02A4-8F73-0A3F-EF5561B8B2A2}"/>
              </a:ext>
            </a:extLst>
          </p:cNvPr>
          <p:cNvSpPr txBox="1"/>
          <p:nvPr/>
        </p:nvSpPr>
        <p:spPr>
          <a:xfrm>
            <a:off x="736600" y="3403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2F291F"/>
                </a:solidFill>
                <a:latin typeface="Aptos" panose="020B0004020202020204" pitchFamily="34" charset="0"/>
              </a:rPr>
              <a:t>Common uses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5E8EA4-40A3-17FB-1815-DB8B2726A9E7}"/>
              </a:ext>
            </a:extLst>
          </p:cNvPr>
          <p:cNvSpPr txBox="1"/>
          <p:nvPr/>
        </p:nvSpPr>
        <p:spPr>
          <a:xfrm>
            <a:off x="736600" y="40386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D6B52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E86332-0C57-380F-FAE7-6DFA6B61ECEF}"/>
              </a:ext>
            </a:extLst>
          </p:cNvPr>
          <p:cNvSpPr txBox="1"/>
          <p:nvPr/>
        </p:nvSpPr>
        <p:spPr>
          <a:xfrm>
            <a:off x="1219200" y="4013200"/>
            <a:ext cx="203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F291F"/>
                </a:solidFill>
                <a:latin typeface="Aptos" panose="020B0004020202020204" pitchFamily="34" charset="0"/>
              </a:rPr>
              <a:t>Accessibility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4F9FA7-311D-A60F-CCF2-050CF569B789}"/>
              </a:ext>
            </a:extLst>
          </p:cNvPr>
          <p:cNvSpPr txBox="1"/>
          <p:nvPr/>
        </p:nvSpPr>
        <p:spPr>
          <a:xfrm>
            <a:off x="3530600" y="40259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F625B"/>
                </a:solidFill>
                <a:latin typeface="Aptos" panose="020B0004020202020204" pitchFamily="34" charset="0"/>
              </a:rPr>
              <a:t>Describe images for users who cannot easily view them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18DB50-C7EF-41BF-4EDB-D91977756653}"/>
              </a:ext>
            </a:extLst>
          </p:cNvPr>
          <p:cNvSpPr txBox="1"/>
          <p:nvPr/>
        </p:nvSpPr>
        <p:spPr>
          <a:xfrm>
            <a:off x="736600" y="46228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D6B52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B4C97D-9B38-7BF7-4B70-087DD299803C}"/>
              </a:ext>
            </a:extLst>
          </p:cNvPr>
          <p:cNvSpPr txBox="1"/>
          <p:nvPr/>
        </p:nvSpPr>
        <p:spPr>
          <a:xfrm>
            <a:off x="1219200" y="4597400"/>
            <a:ext cx="203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F291F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600D3A-EF3B-491F-A276-0C01BD5EEBBE}"/>
              </a:ext>
            </a:extLst>
          </p:cNvPr>
          <p:cNvSpPr txBox="1"/>
          <p:nvPr/>
        </p:nvSpPr>
        <p:spPr>
          <a:xfrm>
            <a:off x="3530600" y="46101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F625B"/>
                </a:solidFill>
                <a:latin typeface="Aptos" panose="020B0004020202020204" pitchFamily="34" charset="0"/>
              </a:rPr>
              <a:t>Help people find images or products using text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E9ADF0-2DC8-1317-C56B-5D70ACD3DC2A}"/>
              </a:ext>
            </a:extLst>
          </p:cNvPr>
          <p:cNvSpPr txBox="1"/>
          <p:nvPr/>
        </p:nvSpPr>
        <p:spPr>
          <a:xfrm>
            <a:off x="736600" y="52070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D6B52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B60600-4E2D-02C0-3B34-EC6B21E86AC3}"/>
              </a:ext>
            </a:extLst>
          </p:cNvPr>
          <p:cNvSpPr txBox="1"/>
          <p:nvPr/>
        </p:nvSpPr>
        <p:spPr>
          <a:xfrm>
            <a:off x="1219200" y="5181600"/>
            <a:ext cx="203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F291F"/>
                </a:solidFill>
                <a:latin typeface="Aptos" panose="020B0004020202020204" pitchFamily="34" charset="0"/>
              </a:rPr>
              <a:t>Organization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D48214-E69A-A721-2DDE-3D6CD70CFB43}"/>
              </a:ext>
            </a:extLst>
          </p:cNvPr>
          <p:cNvSpPr txBox="1"/>
          <p:nvPr/>
        </p:nvSpPr>
        <p:spPr>
          <a:xfrm>
            <a:off x="3530600" y="51943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F625B"/>
                </a:solidFill>
                <a:latin typeface="Aptos" panose="020B0004020202020204" pitchFamily="34" charset="0"/>
              </a:rPr>
              <a:t>Tag and manage large image libraries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6C61DA-FEB3-A140-84CB-A826E0141A86}"/>
              </a:ext>
            </a:extLst>
          </p:cNvPr>
          <p:cNvSpPr txBox="1"/>
          <p:nvPr/>
        </p:nvSpPr>
        <p:spPr>
          <a:xfrm>
            <a:off x="736600" y="57912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D6B52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D7D9EF-C9EF-62DA-3D36-BA7FDB528EA5}"/>
              </a:ext>
            </a:extLst>
          </p:cNvPr>
          <p:cNvSpPr txBox="1"/>
          <p:nvPr/>
        </p:nvSpPr>
        <p:spPr>
          <a:xfrm>
            <a:off x="1219200" y="5765800"/>
            <a:ext cx="203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F291F"/>
                </a:solidFill>
                <a:latin typeface="Aptos" panose="020B0004020202020204" pitchFamily="34" charset="0"/>
              </a:rPr>
              <a:t>Automation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8A87B0-207C-2783-4BAE-BE0FE3C2E70D}"/>
              </a:ext>
            </a:extLst>
          </p:cNvPr>
          <p:cNvSpPr txBox="1"/>
          <p:nvPr/>
        </p:nvSpPr>
        <p:spPr>
          <a:xfrm>
            <a:off x="3530600" y="57785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F625B"/>
                </a:solidFill>
                <a:latin typeface="Aptos" panose="020B0004020202020204" pitchFamily="34" charset="0"/>
              </a:rPr>
              <a:t>Support AI workflows that need scene understanding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675221-FE78-0DF6-01A1-A5744BA08E07}"/>
              </a:ext>
            </a:extLst>
          </p:cNvPr>
          <p:cNvSpPr txBox="1"/>
          <p:nvPr/>
        </p:nvSpPr>
        <p:spPr>
          <a:xfrm>
            <a:off x="9334500" y="4000500"/>
            <a:ext cx="1905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2F291F"/>
                </a:solidFill>
                <a:latin typeface="Aptos" panose="020B0004020202020204" pitchFamily="34" charset="0"/>
              </a:rPr>
              <a:t>The goal is not just to name objects, but to turn visual content into useful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357C6B"/>
          </a:solidFill>
          <a:ln w="12700">
            <a:solidFill>
              <a:srgbClr val="357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tested whether a larger dataset and deeper CNN improved caption quality.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56729" y="1569954"/>
            <a:ext cx="4226286" cy="3194070"/>
          </a:xfrm>
          <a:prstGeom prst="roundRect">
            <a:avLst>
              <a:gd name="adj" fmla="val 1739"/>
            </a:avLst>
          </a:prstGeom>
          <a:solidFill>
            <a:srgbClr val="DDEC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MobileNetV2 + LSTM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8163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075688" y="2788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Flickr8k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075688" y="3264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~8K images / ~40K captions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005840" y="3767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goal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075688" y="37398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next caption word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1005840" y="42428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75688" y="4215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Loss, accuracy, BLEU, examples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217920" y="1522476"/>
            <a:ext cx="4226286" cy="3241548"/>
          </a:xfrm>
          <a:prstGeom prst="roundRect">
            <a:avLst>
              <a:gd name="adj" fmla="val 1739"/>
            </a:avLst>
          </a:prstGeom>
          <a:solidFill>
            <a:srgbClr val="F3E3C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VGG16 + LSTM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28163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607808" y="2788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Flickr30k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3264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~30K images / ~150K captions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537960" y="3767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goal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607808" y="37398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next caption word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6537960" y="42428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607808" y="4215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Loss, accuracy, BLEU, examples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777240" y="599440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Hypothesis: more data plus VGG16 would improve generalization. Result: gains were modest.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/>
              <a:t>3</a:t>
            </a:r>
            <a:endParaRPr lang="en-US"/>
          </a:p>
        </p:txBody>
      </p:sp>
      <p:sp>
        <p:nvSpPr>
          <p:cNvPr id="29" name="keyterm-left-head">
            <a:extLst>
              <a:ext uri="{FF2B5EF4-FFF2-40B4-BE49-F238E27FC236}">
                <a16:creationId xmlns:a16="http://schemas.microsoft.com/office/drawing/2014/main" id="{F350E870-5602-622D-231C-9157FB982F6C}"/>
              </a:ext>
            </a:extLst>
          </p:cNvPr>
          <p:cNvSpPr txBox="1"/>
          <p:nvPr/>
        </p:nvSpPr>
        <p:spPr>
          <a:xfrm>
            <a:off x="774700" y="4965700"/>
            <a:ext cx="355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6D803B"/>
                </a:solidFill>
                <a:latin typeface="Aptos" panose="020B0004020202020204" pitchFamily="34" charset="0"/>
              </a:rPr>
              <a:t>Model components</a:t>
            </a:r>
          </a:p>
        </p:txBody>
      </p:sp>
      <p:sp>
        <p:nvSpPr>
          <p:cNvPr id="30" name="keyterm-left-body">
            <a:extLst>
              <a:ext uri="{FF2B5EF4-FFF2-40B4-BE49-F238E27FC236}">
                <a16:creationId xmlns:a16="http://schemas.microsoft.com/office/drawing/2014/main" id="{98B035D5-A285-FACF-7EF3-DA1425444537}"/>
              </a:ext>
            </a:extLst>
          </p:cNvPr>
          <p:cNvSpPr txBox="1"/>
          <p:nvPr/>
        </p:nvSpPr>
        <p:spPr>
          <a:xfrm>
            <a:off x="774700" y="5232399"/>
            <a:ext cx="4191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880">
                <a:solidFill>
                  <a:srgbClr val="5F625B"/>
                </a:solidFill>
                <a:latin typeface="Aptos" panose="020B0004020202020204" pitchFamily="34" charset="0"/>
              </a:rPr>
              <a:t>- CNN: extracts visual patterns from the image</a:t>
            </a:r>
          </a:p>
          <a:p>
            <a:pPr>
              <a:spcAft>
                <a:spcPts val="200"/>
              </a:spcAft>
            </a:pPr>
            <a:r>
              <a:rPr lang="en-US" sz="880">
                <a:solidFill>
                  <a:srgbClr val="5F625B"/>
                </a:solidFill>
                <a:latin typeface="Aptos" panose="020B0004020202020204" pitchFamily="34" charset="0"/>
              </a:rPr>
              <a:t>- MobileNetV2: lightweight pretrained CNN used for faster feature extraction</a:t>
            </a:r>
          </a:p>
          <a:p>
            <a:pPr>
              <a:spcAft>
                <a:spcPts val="200"/>
              </a:spcAft>
            </a:pPr>
            <a:r>
              <a:rPr lang="en-US" sz="880">
                <a:solidFill>
                  <a:srgbClr val="5F625B"/>
                </a:solidFill>
                <a:latin typeface="Aptos" panose="020B0004020202020204" pitchFamily="34" charset="0"/>
              </a:rPr>
              <a:t>- LSTM: sequence model that predicts the caption one word at a time</a:t>
            </a:r>
          </a:p>
        </p:txBody>
      </p:sp>
      <p:sp>
        <p:nvSpPr>
          <p:cNvPr id="31" name="keyterm-right-head">
            <a:extLst>
              <a:ext uri="{FF2B5EF4-FFF2-40B4-BE49-F238E27FC236}">
                <a16:creationId xmlns:a16="http://schemas.microsoft.com/office/drawing/2014/main" id="{DC2371DC-6692-4218-9236-219C93BD90B6}"/>
              </a:ext>
            </a:extLst>
          </p:cNvPr>
          <p:cNvSpPr txBox="1"/>
          <p:nvPr/>
        </p:nvSpPr>
        <p:spPr>
          <a:xfrm>
            <a:off x="6438900" y="4965700"/>
            <a:ext cx="355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rgbClr val="6D803B"/>
                </a:solidFill>
                <a:latin typeface="Aptos" panose="020B0004020202020204" pitchFamily="34" charset="0"/>
              </a:rPr>
              <a:t>Model components</a:t>
            </a:r>
          </a:p>
        </p:txBody>
      </p:sp>
      <p:sp>
        <p:nvSpPr>
          <p:cNvPr id="32" name="keyterm-right-body">
            <a:extLst>
              <a:ext uri="{FF2B5EF4-FFF2-40B4-BE49-F238E27FC236}">
                <a16:creationId xmlns:a16="http://schemas.microsoft.com/office/drawing/2014/main" id="{C61B0DDC-FF69-F55D-354B-579E27EE96B2}"/>
              </a:ext>
            </a:extLst>
          </p:cNvPr>
          <p:cNvSpPr txBox="1"/>
          <p:nvPr/>
        </p:nvSpPr>
        <p:spPr>
          <a:xfrm>
            <a:off x="6438900" y="5232399"/>
            <a:ext cx="4191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880">
                <a:solidFill>
                  <a:srgbClr val="5F625B"/>
                </a:solidFill>
                <a:latin typeface="Aptos" panose="020B0004020202020204" pitchFamily="34" charset="0"/>
              </a:rPr>
              <a:t>- VGG16: deeper pretrained CNN tested for richer image features</a:t>
            </a:r>
          </a:p>
          <a:p>
            <a:pPr>
              <a:spcAft>
                <a:spcPts val="200"/>
              </a:spcAft>
            </a:pPr>
            <a:r>
              <a:rPr lang="en-US" sz="880">
                <a:solidFill>
                  <a:srgbClr val="5F625B"/>
                </a:solidFill>
                <a:latin typeface="Aptos" panose="020B0004020202020204" pitchFamily="34" charset="0"/>
              </a:rPr>
              <a:t>- Flickr30k: larger dataset used to test whether scale improved generalization</a:t>
            </a:r>
          </a:p>
          <a:p>
            <a:pPr>
              <a:spcAft>
                <a:spcPts val="200"/>
              </a:spcAft>
            </a:pPr>
            <a:r>
              <a:rPr lang="en-US" sz="880">
                <a:solidFill>
                  <a:srgbClr val="5F625B"/>
                </a:solidFill>
                <a:latin typeface="Aptos" panose="020B0004020202020204" pitchFamily="34" charset="0"/>
              </a:rPr>
              <a:t>- Same LSTM decoder: kept the caption generator structure comparable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71B45C9-DBDC-AE45-E56E-873B166A02E8}"/>
              </a:ext>
            </a:extLst>
          </p:cNvPr>
          <p:cNvSpPr/>
          <p:nvPr/>
        </p:nvSpPr>
        <p:spPr>
          <a:xfrm>
            <a:off x="533400" y="368300"/>
            <a:ext cx="127000" cy="127000"/>
          </a:xfrm>
          <a:prstGeom prst="rect">
            <a:avLst/>
          </a:prstGeom>
          <a:solidFill>
            <a:srgbClr val="5C6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8FD040-F9FB-99D1-D1C4-732611463DE0}"/>
              </a:ext>
            </a:extLst>
          </p:cNvPr>
          <p:cNvSpPr txBox="1"/>
          <p:nvPr/>
        </p:nvSpPr>
        <p:spPr>
          <a:xfrm>
            <a:off x="762000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556265"/>
                </a:solidFill>
                <a:latin typeface="Aptos" panose="020B0004020202020204" pitchFamily="34" charset="0"/>
              </a:rPr>
              <a:t>DATA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23368B-E5E4-C208-B1D0-27B7B9136A80}"/>
              </a:ext>
            </a:extLst>
          </p:cNvPr>
          <p:cNvSpPr txBox="1"/>
          <p:nvPr/>
        </p:nvSpPr>
        <p:spPr>
          <a:xfrm>
            <a:off x="533400" y="787400"/>
            <a:ext cx="1092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C251E"/>
                </a:solidFill>
                <a:latin typeface="Aptos" panose="020B0004020202020204" pitchFamily="34" charset="0"/>
              </a:rPr>
              <a:t>The data pipeline protected evaluation by splitting images, not captions.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6B0DF2-7659-F750-17FE-F201A1B87645}"/>
              </a:ext>
            </a:extLst>
          </p:cNvPr>
          <p:cNvSpPr txBox="1"/>
          <p:nvPr/>
        </p:nvSpPr>
        <p:spPr>
          <a:xfrm>
            <a:off x="736600" y="1676400"/>
            <a:ext cx="30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C6C2C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AEA63C-C93C-A731-A532-678468C6EFCE}"/>
              </a:ext>
            </a:extLst>
          </p:cNvPr>
          <p:cNvSpPr txBox="1"/>
          <p:nvPr/>
        </p:nvSpPr>
        <p:spPr>
          <a:xfrm>
            <a:off x="1206500" y="1663700"/>
            <a:ext cx="149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Collect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4B3840-1618-85CA-8390-7428604F1073}"/>
              </a:ext>
            </a:extLst>
          </p:cNvPr>
          <p:cNvSpPr txBox="1"/>
          <p:nvPr/>
        </p:nvSpPr>
        <p:spPr>
          <a:xfrm>
            <a:off x="2984500" y="1689100"/>
            <a:ext cx="4635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56265"/>
                </a:solidFill>
                <a:latin typeface="Aptos" panose="020B0004020202020204" pitchFamily="34" charset="0"/>
              </a:rPr>
              <a:t>Kaggle Flickr8k and Flickr30k image-caption datasets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710EB3C-7B2A-B739-677C-413DAAD7D2C6}"/>
              </a:ext>
            </a:extLst>
          </p:cNvPr>
          <p:cNvCxnSpPr/>
          <p:nvPr/>
        </p:nvCxnSpPr>
        <p:spPr>
          <a:xfrm>
            <a:off x="736600" y="2133600"/>
            <a:ext cx="675640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D3C786E-D293-485B-F433-675FA9AEB9FE}"/>
              </a:ext>
            </a:extLst>
          </p:cNvPr>
          <p:cNvSpPr txBox="1"/>
          <p:nvPr/>
        </p:nvSpPr>
        <p:spPr>
          <a:xfrm>
            <a:off x="736600" y="2463800"/>
            <a:ext cx="30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C6C2C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3F3546-9D7F-E811-1080-CAFB1B65C041}"/>
              </a:ext>
            </a:extLst>
          </p:cNvPr>
          <p:cNvSpPr txBox="1"/>
          <p:nvPr/>
        </p:nvSpPr>
        <p:spPr>
          <a:xfrm>
            <a:off x="1206500" y="2451100"/>
            <a:ext cx="149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Clean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170FCD-3C82-B4AA-6A83-F0D71F650D2C}"/>
              </a:ext>
            </a:extLst>
          </p:cNvPr>
          <p:cNvSpPr txBox="1"/>
          <p:nvPr/>
        </p:nvSpPr>
        <p:spPr>
          <a:xfrm>
            <a:off x="2984500" y="2476500"/>
            <a:ext cx="4635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56265"/>
                </a:solidFill>
                <a:latin typeface="Aptos" panose="020B0004020202020204" pitchFamily="34" charset="0"/>
              </a:rPr>
              <a:t>Lowercase, remove punctuation, normalize whitespace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876C1E-FA1B-D319-11CD-472A977A9350}"/>
              </a:ext>
            </a:extLst>
          </p:cNvPr>
          <p:cNvCxnSpPr/>
          <p:nvPr/>
        </p:nvCxnSpPr>
        <p:spPr>
          <a:xfrm>
            <a:off x="736600" y="2921000"/>
            <a:ext cx="675640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5A6D169-0153-409D-BB0B-5F4F9E26AD7C}"/>
              </a:ext>
            </a:extLst>
          </p:cNvPr>
          <p:cNvSpPr txBox="1"/>
          <p:nvPr/>
        </p:nvSpPr>
        <p:spPr>
          <a:xfrm>
            <a:off x="736600" y="3251200"/>
            <a:ext cx="30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C6C2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90EC56-389B-2C1D-3F87-5CF3C3AAE86D}"/>
              </a:ext>
            </a:extLst>
          </p:cNvPr>
          <p:cNvSpPr txBox="1"/>
          <p:nvPr/>
        </p:nvSpPr>
        <p:spPr>
          <a:xfrm>
            <a:off x="1206500" y="3238500"/>
            <a:ext cx="149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Mark sequences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6744DC-1950-2BEA-71F4-34FB5A2511C9}"/>
              </a:ext>
            </a:extLst>
          </p:cNvPr>
          <p:cNvSpPr txBox="1"/>
          <p:nvPr/>
        </p:nvSpPr>
        <p:spPr>
          <a:xfrm>
            <a:off x="2984500" y="3263900"/>
            <a:ext cx="4635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56265"/>
                </a:solidFill>
                <a:latin typeface="Aptos" panose="020B0004020202020204" pitchFamily="34" charset="0"/>
              </a:rPr>
              <a:t>Add startseq and endseq tokens to every caption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96DA5A-2782-5A50-5254-63AA7E97C8C4}"/>
              </a:ext>
            </a:extLst>
          </p:cNvPr>
          <p:cNvCxnSpPr/>
          <p:nvPr/>
        </p:nvCxnSpPr>
        <p:spPr>
          <a:xfrm>
            <a:off x="736600" y="3708400"/>
            <a:ext cx="675640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71402A-E176-A6E8-A489-96B0C4CC93B9}"/>
              </a:ext>
            </a:extLst>
          </p:cNvPr>
          <p:cNvSpPr txBox="1"/>
          <p:nvPr/>
        </p:nvSpPr>
        <p:spPr>
          <a:xfrm>
            <a:off x="736600" y="4038600"/>
            <a:ext cx="30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C6C2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E9F8F1-5486-58D5-3CAC-8E5E51D2C8F7}"/>
              </a:ext>
            </a:extLst>
          </p:cNvPr>
          <p:cNvSpPr txBox="1"/>
          <p:nvPr/>
        </p:nvSpPr>
        <p:spPr>
          <a:xfrm>
            <a:off x="1206500" y="4025900"/>
            <a:ext cx="149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Tokenize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69195C-7FD5-32E3-EBDE-D3B0566B9FE0}"/>
              </a:ext>
            </a:extLst>
          </p:cNvPr>
          <p:cNvSpPr txBox="1"/>
          <p:nvPr/>
        </p:nvSpPr>
        <p:spPr>
          <a:xfrm>
            <a:off x="2984500" y="4051300"/>
            <a:ext cx="4635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56265"/>
                </a:solidFill>
                <a:latin typeface="Aptos" panose="020B0004020202020204" pitchFamily="34" charset="0"/>
              </a:rPr>
              <a:t>Build vocabulary and convert words to integer IDs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DEA0F8-7C17-DD05-AD80-A095C435A7C8}"/>
              </a:ext>
            </a:extLst>
          </p:cNvPr>
          <p:cNvCxnSpPr/>
          <p:nvPr/>
        </p:nvCxnSpPr>
        <p:spPr>
          <a:xfrm>
            <a:off x="736600" y="4495800"/>
            <a:ext cx="675640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8D926FD-0B30-BF2F-2BA6-81AE7D3F9CA0}"/>
              </a:ext>
            </a:extLst>
          </p:cNvPr>
          <p:cNvSpPr txBox="1"/>
          <p:nvPr/>
        </p:nvSpPr>
        <p:spPr>
          <a:xfrm>
            <a:off x="736600" y="4826000"/>
            <a:ext cx="30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C6C2C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FE5D95-7006-F9ED-CA5C-CB7B7C27F762}"/>
              </a:ext>
            </a:extLst>
          </p:cNvPr>
          <p:cNvSpPr txBox="1"/>
          <p:nvPr/>
        </p:nvSpPr>
        <p:spPr>
          <a:xfrm>
            <a:off x="1206500" y="4813300"/>
            <a:ext cx="149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Split images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8ADCC4-1D40-AA93-45B6-D154816EFCF8}"/>
              </a:ext>
            </a:extLst>
          </p:cNvPr>
          <p:cNvSpPr txBox="1"/>
          <p:nvPr/>
        </p:nvSpPr>
        <p:spPr>
          <a:xfrm>
            <a:off x="2984500" y="4838700"/>
            <a:ext cx="4635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56265"/>
                </a:solidFill>
                <a:latin typeface="Aptos" panose="020B0004020202020204" pitchFamily="34" charset="0"/>
              </a:rPr>
              <a:t>Train / validation / test split by image to prevent leakage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DF496F3-E4B4-7BA2-3CB2-508B792D89C5}"/>
              </a:ext>
            </a:extLst>
          </p:cNvPr>
          <p:cNvCxnSpPr/>
          <p:nvPr/>
        </p:nvCxnSpPr>
        <p:spPr>
          <a:xfrm>
            <a:off x="736600" y="5283200"/>
            <a:ext cx="675640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A4F2EC0-CCE3-CB67-42DB-B64298EFEC14}"/>
              </a:ext>
            </a:extLst>
          </p:cNvPr>
          <p:cNvSpPr/>
          <p:nvPr/>
        </p:nvSpPr>
        <p:spPr>
          <a:xfrm>
            <a:off x="8255000" y="1676400"/>
            <a:ext cx="3302000" cy="368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0D4D85-016E-40CB-F5F4-8528A0F51BA8}"/>
              </a:ext>
            </a:extLst>
          </p:cNvPr>
          <p:cNvSpPr txBox="1"/>
          <p:nvPr/>
        </p:nvSpPr>
        <p:spPr>
          <a:xfrm>
            <a:off x="8585200" y="20574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C251E"/>
                </a:solidFill>
                <a:latin typeface="Aptos" panose="020B0004020202020204" pitchFamily="34" charset="0"/>
              </a:rPr>
              <a:t>Dataset size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E3A96F-44C0-A1F7-A027-CEABC2A8BBAC}"/>
              </a:ext>
            </a:extLst>
          </p:cNvPr>
          <p:cNvSpPr txBox="1"/>
          <p:nvPr/>
        </p:nvSpPr>
        <p:spPr>
          <a:xfrm>
            <a:off x="8636000" y="2730500"/>
            <a:ext cx="88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5C6C2C"/>
                </a:solidFill>
                <a:latin typeface="Aptos" panose="020B0004020202020204" pitchFamily="34" charset="0"/>
              </a:rPr>
              <a:t>8K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CFB3B5-87F5-24AF-93F2-BF86E2A6EE9E}"/>
              </a:ext>
            </a:extLst>
          </p:cNvPr>
          <p:cNvSpPr txBox="1"/>
          <p:nvPr/>
        </p:nvSpPr>
        <p:spPr>
          <a:xfrm>
            <a:off x="8636000" y="3149600"/>
            <a:ext cx="139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Flickr8k images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BA17DA-553C-B480-A8FA-110A42BB2B3F}"/>
              </a:ext>
            </a:extLst>
          </p:cNvPr>
          <p:cNvSpPr txBox="1"/>
          <p:nvPr/>
        </p:nvSpPr>
        <p:spPr>
          <a:xfrm>
            <a:off x="10160000" y="2730500"/>
            <a:ext cx="104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2C8ACA"/>
                </a:solidFill>
                <a:latin typeface="Aptos" panose="020B0004020202020204" pitchFamily="34" charset="0"/>
              </a:rPr>
              <a:t>30K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8365F0-0067-74C5-B1BD-5DAC22D2481E}"/>
              </a:ext>
            </a:extLst>
          </p:cNvPr>
          <p:cNvSpPr txBox="1"/>
          <p:nvPr/>
        </p:nvSpPr>
        <p:spPr>
          <a:xfrm>
            <a:off x="10160000" y="31496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Flickr30k images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6CA2E4-7AE0-E1C9-0C6B-C1CA460F40FC}"/>
              </a:ext>
            </a:extLst>
          </p:cNvPr>
          <p:cNvSpPr txBox="1"/>
          <p:nvPr/>
        </p:nvSpPr>
        <p:spPr>
          <a:xfrm>
            <a:off x="8636000" y="40386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59BAB8-189F-C865-19C4-20896A8097E4}"/>
              </a:ext>
            </a:extLst>
          </p:cNvPr>
          <p:cNvSpPr txBox="1"/>
          <p:nvPr/>
        </p:nvSpPr>
        <p:spPr>
          <a:xfrm>
            <a:off x="8636000" y="4470400"/>
            <a:ext cx="1803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human captions per image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FF77E9-1687-9ABB-344E-3C219DE3681A}"/>
              </a:ext>
            </a:extLst>
          </p:cNvPr>
          <p:cNvSpPr txBox="1"/>
          <p:nvPr/>
        </p:nvSpPr>
        <p:spPr>
          <a:xfrm>
            <a:off x="8585200" y="48895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Splitting by image prevents captions from the same photo appearing in both training and validation.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4F8C9A-D41F-5603-C242-22B0E8E7D780}"/>
              </a:ext>
            </a:extLst>
          </p:cNvPr>
          <p:cNvSpPr txBox="1"/>
          <p:nvPr/>
        </p:nvSpPr>
        <p:spPr>
          <a:xfrm>
            <a:off x="11430000" y="6553200"/>
            <a:ext cx="4445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667178"/>
                </a:solidFill>
                <a:latin typeface="Aptos" panose="020B00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087138D-7BF3-5222-ACF6-E89ED07B458C}"/>
              </a:ext>
            </a:extLst>
          </p:cNvPr>
          <p:cNvSpPr/>
          <p:nvPr/>
        </p:nvSpPr>
        <p:spPr>
          <a:xfrm>
            <a:off x="533400" y="368300"/>
            <a:ext cx="127000" cy="127000"/>
          </a:xfrm>
          <a:prstGeom prst="rect">
            <a:avLst/>
          </a:prstGeom>
          <a:solidFill>
            <a:srgbClr val="5C6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C22463-89C9-CC7C-E90D-49BDBCF2E50C}"/>
              </a:ext>
            </a:extLst>
          </p:cNvPr>
          <p:cNvSpPr txBox="1"/>
          <p:nvPr/>
        </p:nvSpPr>
        <p:spPr>
          <a:xfrm>
            <a:off x="762000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556265"/>
                </a:solidFill>
                <a:latin typeface="Aptos" panose="020B0004020202020204" pitchFamily="34" charset="0"/>
              </a:rPr>
              <a:t>ARCHITECTURE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18C5B3-6F85-7BEB-FC8E-940C882478D8}"/>
              </a:ext>
            </a:extLst>
          </p:cNvPr>
          <p:cNvSpPr txBox="1"/>
          <p:nvPr/>
        </p:nvSpPr>
        <p:spPr>
          <a:xfrm>
            <a:off x="533400" y="7874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C251E"/>
                </a:solidFill>
                <a:latin typeface="Aptos" panose="020B0004020202020204" pitchFamily="34" charset="0"/>
              </a:rPr>
              <a:t>Both trained systems used the same encoder-decoder captioning pattern.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1066B9-AA5F-2932-C6B1-53670130F0F5}"/>
              </a:ext>
            </a:extLst>
          </p:cNvPr>
          <p:cNvSpPr/>
          <p:nvPr/>
        </p:nvSpPr>
        <p:spPr>
          <a:xfrm>
            <a:off x="889000" y="2184400"/>
            <a:ext cx="1714500" cy="111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69F92E-D9D1-7241-5BE4-ACAAD736570A}"/>
              </a:ext>
            </a:extLst>
          </p:cNvPr>
          <p:cNvSpPr txBox="1"/>
          <p:nvPr/>
        </p:nvSpPr>
        <p:spPr>
          <a:xfrm>
            <a:off x="1041400" y="23495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C2C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FF8DEF-B8D6-C551-A492-913E432A9784}"/>
              </a:ext>
            </a:extLst>
          </p:cNvPr>
          <p:cNvSpPr txBox="1"/>
          <p:nvPr/>
        </p:nvSpPr>
        <p:spPr>
          <a:xfrm>
            <a:off x="1346200" y="23114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C251E"/>
                </a:solidFill>
                <a:latin typeface="Aptos" panose="020B0004020202020204" pitchFamily="34" charset="0"/>
              </a:rPr>
              <a:t>Input image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34457E-25B9-2757-E892-2198744D6E54}"/>
              </a:ext>
            </a:extLst>
          </p:cNvPr>
          <p:cNvSpPr txBox="1"/>
          <p:nvPr/>
        </p:nvSpPr>
        <p:spPr>
          <a:xfrm>
            <a:off x="1066800" y="2768600"/>
            <a:ext cx="1333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Resize photo to 224x224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9EFD71-5AF5-3A18-424D-BE3B7253D373}"/>
              </a:ext>
            </a:extLst>
          </p:cNvPr>
          <p:cNvCxnSpPr/>
          <p:nvPr/>
        </p:nvCxnSpPr>
        <p:spPr>
          <a:xfrm>
            <a:off x="2692400" y="2743200"/>
            <a:ext cx="165100" cy="0"/>
          </a:xfrm>
          <a:prstGeom prst="line">
            <a:avLst/>
          </a:prstGeom>
          <a:ln w="12700">
            <a:solidFill>
              <a:srgbClr val="55626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AB45899-82A4-9271-C842-3C740C07DD24}"/>
              </a:ext>
            </a:extLst>
          </p:cNvPr>
          <p:cNvSpPr/>
          <p:nvPr/>
        </p:nvSpPr>
        <p:spPr>
          <a:xfrm>
            <a:off x="2984500" y="2184400"/>
            <a:ext cx="1714500" cy="111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F043B3-FFBC-14D0-B6C1-CC5E2D58FAA6}"/>
              </a:ext>
            </a:extLst>
          </p:cNvPr>
          <p:cNvSpPr txBox="1"/>
          <p:nvPr/>
        </p:nvSpPr>
        <p:spPr>
          <a:xfrm>
            <a:off x="3136900" y="23495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C2C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19578F-B480-2588-5350-330868E81C1A}"/>
              </a:ext>
            </a:extLst>
          </p:cNvPr>
          <p:cNvSpPr txBox="1"/>
          <p:nvPr/>
        </p:nvSpPr>
        <p:spPr>
          <a:xfrm>
            <a:off x="3441700" y="23114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C251E"/>
                </a:solidFill>
                <a:latin typeface="Aptos" panose="020B0004020202020204" pitchFamily="34" charset="0"/>
              </a:rPr>
              <a:t>CNN features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F3DCC4-262E-B892-2002-428B62548FC5}"/>
              </a:ext>
            </a:extLst>
          </p:cNvPr>
          <p:cNvSpPr txBox="1"/>
          <p:nvPr/>
        </p:nvSpPr>
        <p:spPr>
          <a:xfrm>
            <a:off x="3162300" y="2768600"/>
            <a:ext cx="1333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MobileNetV2 or VGG16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CB39652-675D-BF12-1747-4F0DE9E4F843}"/>
              </a:ext>
            </a:extLst>
          </p:cNvPr>
          <p:cNvCxnSpPr/>
          <p:nvPr/>
        </p:nvCxnSpPr>
        <p:spPr>
          <a:xfrm>
            <a:off x="4787900" y="2743200"/>
            <a:ext cx="165100" cy="0"/>
          </a:xfrm>
          <a:prstGeom prst="line">
            <a:avLst/>
          </a:prstGeom>
          <a:ln w="12700">
            <a:solidFill>
              <a:srgbClr val="55626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743FA9A-8A7B-E2E2-D421-060AA5205C85}"/>
              </a:ext>
            </a:extLst>
          </p:cNvPr>
          <p:cNvSpPr/>
          <p:nvPr/>
        </p:nvSpPr>
        <p:spPr>
          <a:xfrm>
            <a:off x="5080000" y="2184400"/>
            <a:ext cx="1714500" cy="111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8D6BAE-F5CB-5D47-29F1-35BDF4F9C2E8}"/>
              </a:ext>
            </a:extLst>
          </p:cNvPr>
          <p:cNvSpPr txBox="1"/>
          <p:nvPr/>
        </p:nvSpPr>
        <p:spPr>
          <a:xfrm>
            <a:off x="5232400" y="23495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C2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BCDFC6-500C-05D9-6E03-24867CCA1FCB}"/>
              </a:ext>
            </a:extLst>
          </p:cNvPr>
          <p:cNvSpPr txBox="1"/>
          <p:nvPr/>
        </p:nvSpPr>
        <p:spPr>
          <a:xfrm>
            <a:off x="5537200" y="23114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C251E"/>
                </a:solidFill>
                <a:latin typeface="Aptos" panose="020B0004020202020204" pitchFamily="34" charset="0"/>
              </a:rPr>
              <a:t>LSTM decoder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DEA3F0-2A29-F73A-F2BB-2FC174EAADFE}"/>
              </a:ext>
            </a:extLst>
          </p:cNvPr>
          <p:cNvSpPr txBox="1"/>
          <p:nvPr/>
        </p:nvSpPr>
        <p:spPr>
          <a:xfrm>
            <a:off x="5257800" y="2768600"/>
            <a:ext cx="1333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Learns caption sequence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AE159E3-CF27-C772-AFD3-2D2E4329410A}"/>
              </a:ext>
            </a:extLst>
          </p:cNvPr>
          <p:cNvCxnSpPr/>
          <p:nvPr/>
        </p:nvCxnSpPr>
        <p:spPr>
          <a:xfrm>
            <a:off x="6883400" y="2743200"/>
            <a:ext cx="165100" cy="0"/>
          </a:xfrm>
          <a:prstGeom prst="line">
            <a:avLst/>
          </a:prstGeom>
          <a:ln w="12700">
            <a:solidFill>
              <a:srgbClr val="55626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664D4A-4562-2C53-9BFA-0A5BC7BC3470}"/>
              </a:ext>
            </a:extLst>
          </p:cNvPr>
          <p:cNvSpPr/>
          <p:nvPr/>
        </p:nvSpPr>
        <p:spPr>
          <a:xfrm>
            <a:off x="7175500" y="2184400"/>
            <a:ext cx="1714500" cy="111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7AC222-2555-6F63-9210-4777170C3F4E}"/>
              </a:ext>
            </a:extLst>
          </p:cNvPr>
          <p:cNvSpPr txBox="1"/>
          <p:nvPr/>
        </p:nvSpPr>
        <p:spPr>
          <a:xfrm>
            <a:off x="7327900" y="23495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C2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057688-0092-00EE-6E83-65CBE55FD902}"/>
              </a:ext>
            </a:extLst>
          </p:cNvPr>
          <p:cNvSpPr txBox="1"/>
          <p:nvPr/>
        </p:nvSpPr>
        <p:spPr>
          <a:xfrm>
            <a:off x="7632700" y="23114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C251E"/>
                </a:solidFill>
                <a:latin typeface="Aptos" panose="020B0004020202020204" pitchFamily="34" charset="0"/>
              </a:rPr>
              <a:t>Next word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A7A44E-0C3D-20E8-F851-65B5C42A64FE}"/>
              </a:ext>
            </a:extLst>
          </p:cNvPr>
          <p:cNvSpPr txBox="1"/>
          <p:nvPr/>
        </p:nvSpPr>
        <p:spPr>
          <a:xfrm>
            <a:off x="7353300" y="2768600"/>
            <a:ext cx="1333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Predicts vocabulary output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B21DCF9-AFC5-B371-1EB8-732B92145063}"/>
              </a:ext>
            </a:extLst>
          </p:cNvPr>
          <p:cNvCxnSpPr/>
          <p:nvPr/>
        </p:nvCxnSpPr>
        <p:spPr>
          <a:xfrm>
            <a:off x="8978900" y="2743200"/>
            <a:ext cx="165100" cy="0"/>
          </a:xfrm>
          <a:prstGeom prst="line">
            <a:avLst/>
          </a:prstGeom>
          <a:ln w="12700">
            <a:solidFill>
              <a:srgbClr val="55626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5F756B7-6170-6B39-987B-B17D148F747F}"/>
              </a:ext>
            </a:extLst>
          </p:cNvPr>
          <p:cNvSpPr/>
          <p:nvPr/>
        </p:nvSpPr>
        <p:spPr>
          <a:xfrm>
            <a:off x="9271000" y="2184400"/>
            <a:ext cx="1714500" cy="111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FAF420-7789-3639-27E6-762F01438DA8}"/>
              </a:ext>
            </a:extLst>
          </p:cNvPr>
          <p:cNvSpPr txBox="1"/>
          <p:nvPr/>
        </p:nvSpPr>
        <p:spPr>
          <a:xfrm>
            <a:off x="9423400" y="23495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C2C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CFA67C-920D-E29A-C70A-A6B56F5C5915}"/>
              </a:ext>
            </a:extLst>
          </p:cNvPr>
          <p:cNvSpPr txBox="1"/>
          <p:nvPr/>
        </p:nvSpPr>
        <p:spPr>
          <a:xfrm>
            <a:off x="9728200" y="23114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C251E"/>
                </a:solidFill>
                <a:latin typeface="Aptos" panose="020B0004020202020204" pitchFamily="34" charset="0"/>
              </a:rPr>
              <a:t>Caption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0106D5-9CD0-3EB5-1B93-1699754CE49A}"/>
              </a:ext>
            </a:extLst>
          </p:cNvPr>
          <p:cNvSpPr txBox="1"/>
          <p:nvPr/>
        </p:nvSpPr>
        <p:spPr>
          <a:xfrm>
            <a:off x="9448800" y="2768600"/>
            <a:ext cx="1333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56265"/>
                </a:solidFill>
                <a:latin typeface="Aptos" panose="020B0004020202020204" pitchFamily="34" charset="0"/>
              </a:rPr>
              <a:t>Words until endseq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743A2D-FA0D-2524-6E22-E5FA0C3FD36A}"/>
              </a:ext>
            </a:extLst>
          </p:cNvPr>
          <p:cNvSpPr txBox="1"/>
          <p:nvPr/>
        </p:nvSpPr>
        <p:spPr>
          <a:xfrm>
            <a:off x="11430000" y="6934200"/>
            <a:ext cx="4445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667178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B0CEB7-D944-DC69-AB83-891816A8B41F}"/>
              </a:ext>
            </a:extLst>
          </p:cNvPr>
          <p:cNvSpPr txBox="1"/>
          <p:nvPr/>
        </p:nvSpPr>
        <p:spPr>
          <a:xfrm>
            <a:off x="838200" y="3701454"/>
            <a:ext cx="8890000" cy="841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1C251E"/>
                </a:solidFill>
                <a:latin typeface="Aptos" panose="020B0004020202020204" pitchFamily="34" charset="0"/>
              </a:rPr>
              <a:t>• The CNN reads the image and turns it into features; the LSTM uses those features and previous words to predict the next word in the caption.</a:t>
            </a:r>
          </a:p>
          <a:p>
            <a:pPr>
              <a:spcAft>
                <a:spcPts val="400"/>
              </a:spcAft>
            </a:pPr>
            <a:endParaRPr lang="en-US" sz="1200">
              <a:solidFill>
                <a:srgbClr val="1C251E"/>
              </a:solidFill>
              <a:latin typeface="Aptos" panose="020B0004020202020204" pitchFamily="34" charset="0"/>
            </a:endParaRP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1C251E"/>
                </a:solidFill>
                <a:latin typeface="Aptos" panose="020B0004020202020204" pitchFamily="34" charset="0"/>
              </a:rPr>
              <a:t>• Main limitation: the decoder can still fall back to common caption phrases when the image contains a less common object or scene.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357C6B"/>
          </a:solidFill>
          <a:ln w="12700">
            <a:solidFill>
              <a:srgbClr val="357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1: FLICKR8K + MOBILENETV2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1 learned quickly, but validation loss showed early overfitting.</a:t>
            </a:r>
            <a:endParaRPr lang="en-US" sz="2700" dirty="0"/>
          </a:p>
        </p:txBody>
      </p:sp>
      <p:pic>
        <p:nvPicPr>
          <p:cNvPr id="5" name="Image 0" descr="C:\image_caption_proj_stuff\training_val_lo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08760"/>
            <a:ext cx="525780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08760"/>
            <a:ext cx="525780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C:\image_caption_proj_stuff\training_val_ac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508760"/>
            <a:ext cx="5257800" cy="2880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3640" y="1508760"/>
            <a:ext cx="525780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60120" y="4892040"/>
            <a:ext cx="155448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08D22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~43.4%</a:t>
            </a:r>
            <a:endParaRPr lang="en-US" sz="2300" b="1" dirty="0">
              <a:solidFill>
                <a:srgbClr val="D08D22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60120" y="5275580"/>
            <a:ext cx="20116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final training accuracy</a:t>
            </a:r>
            <a:endParaRPr lang="en-US" sz="95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743200" y="4892040"/>
            <a:ext cx="155448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08D22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~39.3%</a:t>
            </a:r>
            <a:endParaRPr lang="en-US" sz="2300" b="1" dirty="0">
              <a:solidFill>
                <a:srgbClr val="D08D22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743200" y="5275580"/>
            <a:ext cx="20116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final validation accuracy</a:t>
            </a:r>
            <a:endParaRPr lang="en-US" sz="95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74920" y="4919980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Validation loss improved at first, from ~3.46 to ~3.33, then rose back to ~3.46.</a:t>
            </a:r>
            <a:endParaRPr lang="en-US" sz="1500" b="1" dirty="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74920" y="5514340"/>
            <a:ext cx="5669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Interpretation: the model learned the training captions, but validation loss increased after the early low point, suggesting overfitting.</a:t>
            </a:r>
            <a:endParaRPr lang="en-US" sz="105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/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357C6B"/>
          </a:solidFill>
          <a:ln w="12700">
            <a:solidFill>
              <a:srgbClr val="357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2: FLICKR30K + VGG16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2 had more data and a deeper CNN, but validation gains were modest.</a:t>
            </a:r>
            <a:endParaRPr lang="en-US" sz="2700" dirty="0"/>
          </a:p>
        </p:txBody>
      </p:sp>
      <p:pic>
        <p:nvPicPr>
          <p:cNvPr id="5" name="Image 0" descr="C:\image_caption_proj_stuff\training_val_loss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08760"/>
            <a:ext cx="525780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08760"/>
            <a:ext cx="525780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C:\image_caption_proj_stuff\training_val_acc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508760"/>
            <a:ext cx="5257800" cy="2880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3640" y="1508760"/>
            <a:ext cx="525780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60120" y="48920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88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~39.8%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60120" y="52760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training accuracy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971800" y="48920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88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~37.9%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2971800" y="52760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validation accuracy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074920" y="49194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loss improved only slightly, from ~3.58 to ~3.44, before leveling off.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74920" y="5513832"/>
            <a:ext cx="5669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scaling from Flickr8k to Flickr30k and replacing MobileNetV2 with VGG16 did not dramatically improve generalization.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/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9421A-A65F-EB02-7B00-1457622BAA3E}"/>
              </a:ext>
            </a:extLst>
          </p:cNvPr>
          <p:cNvSpPr/>
          <p:nvPr/>
        </p:nvSpPr>
        <p:spPr>
          <a:xfrm>
            <a:off x="530860" y="328930"/>
            <a:ext cx="146050" cy="146050"/>
          </a:xfrm>
          <a:prstGeom prst="rect">
            <a:avLst/>
          </a:prstGeom>
          <a:solidFill>
            <a:srgbClr val="6D80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39E96-B509-1A3A-C6DD-E1073C889734}"/>
              </a:ext>
            </a:extLst>
          </p:cNvPr>
          <p:cNvSpPr txBox="1"/>
          <p:nvPr/>
        </p:nvSpPr>
        <p:spPr>
          <a:xfrm>
            <a:off x="759460" y="288290"/>
            <a:ext cx="43891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dirty="0">
                <a:solidFill>
                  <a:srgbClr val="5D676F"/>
                </a:solidFill>
                <a:latin typeface="Aptos" panose="020B0004020202020204" pitchFamily="34" charset="0"/>
              </a:rPr>
              <a:t>GENERATED OUTPUTS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6E041-F325-8A60-0876-2CB736763109}"/>
              </a:ext>
            </a:extLst>
          </p:cNvPr>
          <p:cNvSpPr txBox="1"/>
          <p:nvPr/>
        </p:nvSpPr>
        <p:spPr>
          <a:xfrm>
            <a:off x="502920" y="657860"/>
            <a:ext cx="1069848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F291F"/>
                </a:solidFill>
                <a:latin typeface="Aptos Display" panose="020B0004020202020204" pitchFamily="34" charset="0"/>
              </a:rPr>
              <a:t>Both trained models produced useful tennis captions, with different strengths.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2FC1A-D938-9900-96DE-BB1CEDDDFFA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676400"/>
            <a:ext cx="2984500" cy="4254500"/>
          </a:xfrm>
          <a:prstGeom prst="rect">
            <a:avLst/>
          </a:prstGeom>
          <a:ln w="9525">
            <a:solidFill>
              <a:srgbClr val="BAC7CF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6F90FE-4F33-1526-C0F5-BAF8AAD5304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1676400"/>
            <a:ext cx="2984500" cy="4254500"/>
          </a:xfrm>
          <a:prstGeom prst="rect">
            <a:avLst/>
          </a:prstGeom>
          <a:ln w="9525">
            <a:solidFill>
              <a:srgbClr val="BAC7CF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F637E8-F690-7B9E-5222-30E0E00BBEDA}"/>
              </a:ext>
            </a:extLst>
          </p:cNvPr>
          <p:cNvSpPr txBox="1"/>
          <p:nvPr/>
        </p:nvSpPr>
        <p:spPr>
          <a:xfrm>
            <a:off x="8382000" y="1803400"/>
            <a:ext cx="2857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2F291F"/>
                </a:solidFill>
                <a:latin typeface="Aptos" panose="020B0004020202020204" pitchFamily="34" charset="0"/>
              </a:rPr>
              <a:t>What this shows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7D72CA-86D1-B194-3B18-8FA97A69DE09}"/>
              </a:ext>
            </a:extLst>
          </p:cNvPr>
          <p:cNvSpPr txBox="1"/>
          <p:nvPr/>
        </p:nvSpPr>
        <p:spPr>
          <a:xfrm>
            <a:off x="8382000" y="2413000"/>
            <a:ext cx="31115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dirty="0">
                <a:solidFill>
                  <a:srgbClr val="5F625B"/>
                </a:solidFill>
                <a:latin typeface="Aptos" panose="020B0004020202020204" pitchFamily="34" charset="0"/>
              </a:rPr>
              <a:t>Model 1 was more concise and directly captured the key action: the player hitting the tennis ball.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168A5-0C16-0D81-96A0-B913DE93E884}"/>
              </a:ext>
            </a:extLst>
          </p:cNvPr>
          <p:cNvSpPr txBox="1"/>
          <p:nvPr/>
        </p:nvSpPr>
        <p:spPr>
          <a:xfrm>
            <a:off x="8382000" y="3479800"/>
            <a:ext cx="31115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Model 2 attempted a richer description of the scene, including clothing and the sport, but added more detail that could be less reliable.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9CA28B-2338-9238-CB4A-55FEEA5E2BB2}"/>
              </a:ext>
            </a:extLst>
          </p:cNvPr>
          <p:cNvSpPr txBox="1"/>
          <p:nvPr/>
        </p:nvSpPr>
        <p:spPr>
          <a:xfrm>
            <a:off x="8382000" y="4851400"/>
            <a:ext cx="3111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08D22"/>
                </a:solidFill>
                <a:latin typeface="Aptos" panose="020B0004020202020204" pitchFamily="34" charset="0"/>
              </a:rPr>
              <a:t>Positive takeaway: both models understood the broad tennis context.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40C85-AE27-B487-0302-227A44A61CAC}"/>
              </a:ext>
            </a:extLst>
          </p:cNvPr>
          <p:cNvSpPr txBox="1"/>
          <p:nvPr/>
        </p:nvSpPr>
        <p:spPr>
          <a:xfrm>
            <a:off x="939800" y="6045200"/>
            <a:ext cx="2984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2F291F"/>
                </a:solidFill>
                <a:latin typeface="Aptos" panose="020B0004020202020204" pitchFamily="34" charset="0"/>
              </a:rPr>
              <a:t>Model 1: concise and accurate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B0775-5765-8D5C-70ED-7E4C27AC2423}"/>
              </a:ext>
            </a:extLst>
          </p:cNvPr>
          <p:cNvSpPr txBox="1"/>
          <p:nvPr/>
        </p:nvSpPr>
        <p:spPr>
          <a:xfrm>
            <a:off x="4749800" y="6045200"/>
            <a:ext cx="2984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2F291F"/>
                </a:solidFill>
                <a:latin typeface="Aptos" panose="020B0004020202020204" pitchFamily="34" charset="0"/>
              </a:rPr>
              <a:t>Model 2: more descriptive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BBCC32-6721-B586-BB0A-F06606EFCE5A}"/>
              </a:ext>
            </a:extLst>
          </p:cNvPr>
          <p:cNvCxnSpPr/>
          <p:nvPr/>
        </p:nvCxnSpPr>
        <p:spPr>
          <a:xfrm>
            <a:off x="502920" y="6508750"/>
            <a:ext cx="11028680" cy="0"/>
          </a:xfrm>
          <a:prstGeom prst="line">
            <a:avLst/>
          </a:prstGeom>
          <a:ln w="6350">
            <a:solidFill>
              <a:srgbClr val="BAC7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919926-485A-4CFB-1E0C-0FBBF221717B}"/>
              </a:ext>
            </a:extLst>
          </p:cNvPr>
          <p:cNvSpPr txBox="1"/>
          <p:nvPr/>
        </p:nvSpPr>
        <p:spPr>
          <a:xfrm>
            <a:off x="533400" y="6553200"/>
            <a:ext cx="3175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650">
                <a:solidFill>
                  <a:srgbClr val="5D676F"/>
                </a:solidFill>
                <a:latin typeface="Aptos" panose="020B0004020202020204" pitchFamily="34" charset="0"/>
              </a:rPr>
              <a:t>Image Caption Generation | DSC 680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1117E7-787F-E430-03B1-D018226795B3}"/>
              </a:ext>
            </a:extLst>
          </p:cNvPr>
          <p:cNvSpPr txBox="1"/>
          <p:nvPr/>
        </p:nvSpPr>
        <p:spPr>
          <a:xfrm>
            <a:off x="11430000" y="6553200"/>
            <a:ext cx="4445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650">
                <a:solidFill>
                  <a:srgbClr val="5D676F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2695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357C6B"/>
          </a:solidFill>
          <a:ln w="12700">
            <a:solidFill>
              <a:srgbClr val="357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5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D2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Qualitative testing showed both trained models still struggled with object-specific accuracy.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34924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36208" y="1417320"/>
            <a:ext cx="534924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5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 | MOBILENETV2 + LSTM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10528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 | VGG16 + LSTM</a:t>
            </a:r>
            <a:endParaRPr lang="en-US" sz="850" dirty="0"/>
          </a:p>
        </p:txBody>
      </p:sp>
      <p:pic>
        <p:nvPicPr>
          <p:cNvPr id="9" name="Image 0" descr="C:\image_caption_proj_stuff\model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965960"/>
            <a:ext cx="4800600" cy="3154680"/>
          </a:xfrm>
          <a:prstGeom prst="rect">
            <a:avLst/>
          </a:prstGeom>
        </p:spPr>
      </p:pic>
      <p:pic>
        <p:nvPicPr>
          <p:cNvPr id="10" name="Image 1" descr="C:\image_caption_proj_stuff\model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10528" y="1965960"/>
            <a:ext cx="4800600" cy="315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961888"/>
            <a:ext cx="10991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Both systems generated readable captions, but they sometimes relied on common dataset patterns instead of accurately identifying the main object. 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/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20A912-2AD5-AA00-544D-65A34A681F03}"/>
              </a:ext>
            </a:extLst>
          </p:cNvPr>
          <p:cNvSpPr/>
          <p:nvPr/>
        </p:nvSpPr>
        <p:spPr>
          <a:xfrm>
            <a:off x="533400" y="368300"/>
            <a:ext cx="127000" cy="127000"/>
          </a:xfrm>
          <a:prstGeom prst="rect">
            <a:avLst/>
          </a:prstGeom>
          <a:solidFill>
            <a:srgbClr val="5C6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5E12D3-5A12-6BCB-F494-D71B01520C4C}"/>
              </a:ext>
            </a:extLst>
          </p:cNvPr>
          <p:cNvSpPr txBox="1"/>
          <p:nvPr/>
        </p:nvSpPr>
        <p:spPr>
          <a:xfrm>
            <a:off x="762000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556265"/>
                </a:solidFill>
                <a:latin typeface="Aptos" panose="020B0004020202020204" pitchFamily="34" charset="0"/>
              </a:rPr>
              <a:t>FINDINGS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E4786E-9530-6595-2F57-8E5C3299A898}"/>
              </a:ext>
            </a:extLst>
          </p:cNvPr>
          <p:cNvSpPr txBox="1"/>
          <p:nvPr/>
        </p:nvSpPr>
        <p:spPr>
          <a:xfrm>
            <a:off x="533400" y="787400"/>
            <a:ext cx="10795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C251E"/>
                </a:solidFill>
                <a:latin typeface="Aptos" panose="020B0004020202020204" pitchFamily="34" charset="0"/>
              </a:rPr>
              <a:t>The main finding: more data and VGG16 did not solve the CNN-LSTM bottleneck.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723204-B821-0159-3583-00FCE338E7AC}"/>
              </a:ext>
            </a:extLst>
          </p:cNvPr>
          <p:cNvSpPr/>
          <p:nvPr/>
        </p:nvSpPr>
        <p:spPr>
          <a:xfrm>
            <a:off x="990600" y="1905000"/>
            <a:ext cx="50165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3299B-0411-66A8-629A-1E7C4C2E5A31}"/>
              </a:ext>
            </a:extLst>
          </p:cNvPr>
          <p:cNvSpPr txBox="1"/>
          <p:nvPr/>
        </p:nvSpPr>
        <p:spPr>
          <a:xfrm>
            <a:off x="1219200" y="2146300"/>
            <a:ext cx="304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C2C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7617F4-7B44-E8B9-A48B-C747D131ACFC}"/>
              </a:ext>
            </a:extLst>
          </p:cNvPr>
          <p:cNvSpPr txBox="1"/>
          <p:nvPr/>
        </p:nvSpPr>
        <p:spPr>
          <a:xfrm>
            <a:off x="1676400" y="2108200"/>
            <a:ext cx="374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Scale helped less than expected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AC52D6-7EB1-89C6-5994-FC5791780FFB}"/>
              </a:ext>
            </a:extLst>
          </p:cNvPr>
          <p:cNvSpPr txBox="1"/>
          <p:nvPr/>
        </p:nvSpPr>
        <p:spPr>
          <a:xfrm>
            <a:off x="1676400" y="24384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56265"/>
                </a:solidFill>
                <a:latin typeface="Aptos" panose="020B0004020202020204" pitchFamily="34" charset="0"/>
              </a:rPr>
              <a:t>Flickr30k added far more examples, but validation accuracy remained below 40%.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579F80-2635-F944-C8D6-6812994B9E62}"/>
              </a:ext>
            </a:extLst>
          </p:cNvPr>
          <p:cNvSpPr/>
          <p:nvPr/>
        </p:nvSpPr>
        <p:spPr>
          <a:xfrm>
            <a:off x="6286500" y="1905000"/>
            <a:ext cx="50165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AA717D-DA7E-6F0E-F497-42F1BCAA2B09}"/>
              </a:ext>
            </a:extLst>
          </p:cNvPr>
          <p:cNvSpPr txBox="1"/>
          <p:nvPr/>
        </p:nvSpPr>
        <p:spPr>
          <a:xfrm>
            <a:off x="6515100" y="2146300"/>
            <a:ext cx="304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C2C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50181B-CFEB-07DC-129C-D00AD749D6CB}"/>
              </a:ext>
            </a:extLst>
          </p:cNvPr>
          <p:cNvSpPr txBox="1"/>
          <p:nvPr/>
        </p:nvSpPr>
        <p:spPr>
          <a:xfrm>
            <a:off x="6972300" y="2108200"/>
            <a:ext cx="374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Architecture mattered more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E02AE-89FD-1379-6921-31E4DBD7E9B1}"/>
              </a:ext>
            </a:extLst>
          </p:cNvPr>
          <p:cNvSpPr txBox="1"/>
          <p:nvPr/>
        </p:nvSpPr>
        <p:spPr>
          <a:xfrm>
            <a:off x="6972300" y="24384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56265"/>
                </a:solidFill>
                <a:latin typeface="Aptos" panose="020B0004020202020204" pitchFamily="34" charset="0"/>
              </a:rPr>
              <a:t>The LSTM decoder still leaned on frequent caption patterns.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1C0562B-B4B2-CD05-1796-8F6279639801}"/>
              </a:ext>
            </a:extLst>
          </p:cNvPr>
          <p:cNvSpPr/>
          <p:nvPr/>
        </p:nvSpPr>
        <p:spPr>
          <a:xfrm>
            <a:off x="990600" y="3302000"/>
            <a:ext cx="50165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B67B0A-3F81-8A68-3942-6D4C4AA5A831}"/>
              </a:ext>
            </a:extLst>
          </p:cNvPr>
          <p:cNvSpPr txBox="1"/>
          <p:nvPr/>
        </p:nvSpPr>
        <p:spPr>
          <a:xfrm>
            <a:off x="1219200" y="3543300"/>
            <a:ext cx="304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C2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83075A-3562-520A-2818-4F862AE77F57}"/>
              </a:ext>
            </a:extLst>
          </p:cNvPr>
          <p:cNvSpPr txBox="1"/>
          <p:nvPr/>
        </p:nvSpPr>
        <p:spPr>
          <a:xfrm>
            <a:off x="1676400" y="3505200"/>
            <a:ext cx="374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Qualitative results exposed gaps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D94CD-E9D4-A9EA-CDBA-C3A96468435E}"/>
              </a:ext>
            </a:extLst>
          </p:cNvPr>
          <p:cNvSpPr txBox="1"/>
          <p:nvPr/>
        </p:nvSpPr>
        <p:spPr>
          <a:xfrm>
            <a:off x="1676400" y="38354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56265"/>
                </a:solidFill>
                <a:latin typeface="Aptos" panose="020B0004020202020204" pitchFamily="34" charset="0"/>
              </a:rPr>
              <a:t>Simple scenes worked best; unusual animals and complex interactions were harder.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E2E1DE3-E307-FF74-234D-95E207A45BE2}"/>
              </a:ext>
            </a:extLst>
          </p:cNvPr>
          <p:cNvSpPr/>
          <p:nvPr/>
        </p:nvSpPr>
        <p:spPr>
          <a:xfrm>
            <a:off x="6286500" y="3302000"/>
            <a:ext cx="50165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069CF8-26E7-A4F1-52E6-79177DEBC832}"/>
              </a:ext>
            </a:extLst>
          </p:cNvPr>
          <p:cNvSpPr txBox="1"/>
          <p:nvPr/>
        </p:nvSpPr>
        <p:spPr>
          <a:xfrm>
            <a:off x="6515100" y="3543300"/>
            <a:ext cx="304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C2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8B35C-F5AF-1733-75C9-45E4F25D2316}"/>
              </a:ext>
            </a:extLst>
          </p:cNvPr>
          <p:cNvSpPr txBox="1"/>
          <p:nvPr/>
        </p:nvSpPr>
        <p:spPr>
          <a:xfrm>
            <a:off x="6972300" y="3505200"/>
            <a:ext cx="374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C251E"/>
                </a:solidFill>
                <a:latin typeface="Aptos" panose="020B0004020202020204" pitchFamily="34" charset="0"/>
              </a:rPr>
              <a:t>BLEU is useful but incomplete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38561C-AFCE-9B07-7D54-4C2A146338DB}"/>
              </a:ext>
            </a:extLst>
          </p:cNvPr>
          <p:cNvSpPr txBox="1"/>
          <p:nvPr/>
        </p:nvSpPr>
        <p:spPr>
          <a:xfrm>
            <a:off x="6972300" y="38354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56265"/>
                </a:solidFill>
                <a:latin typeface="Aptos" panose="020B0004020202020204" pitchFamily="34" charset="0"/>
              </a:rPr>
              <a:t>Word overlap does not fully capture whether a caption feels correct to a human.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41FFA9-4526-43D8-0819-2DAA36700AB9}"/>
              </a:ext>
            </a:extLst>
          </p:cNvPr>
          <p:cNvCxnSpPr/>
          <p:nvPr/>
        </p:nvCxnSpPr>
        <p:spPr>
          <a:xfrm>
            <a:off x="1460500" y="5105400"/>
            <a:ext cx="9271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EA6B8F5-53FF-13AD-C501-1DB93A1D1F57}"/>
              </a:ext>
            </a:extLst>
          </p:cNvPr>
          <p:cNvSpPr txBox="1"/>
          <p:nvPr/>
        </p:nvSpPr>
        <p:spPr>
          <a:xfrm>
            <a:off x="1905000" y="5461000"/>
            <a:ext cx="838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C251E"/>
                </a:solidFill>
                <a:latin typeface="Aptos" panose="020B0004020202020204" pitchFamily="34" charset="0"/>
              </a:rPr>
              <a:t>Future gains likely require attention or transformer-based vision-language models, not only a larger CNN or dataset.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CDAC5A-8746-06B3-D0EC-D0A49A813F15}"/>
              </a:ext>
            </a:extLst>
          </p:cNvPr>
          <p:cNvSpPr txBox="1"/>
          <p:nvPr/>
        </p:nvSpPr>
        <p:spPr>
          <a:xfrm>
            <a:off x="11430000" y="6934200"/>
            <a:ext cx="4445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667178"/>
                </a:solidFill>
                <a:latin typeface="Aptos" panose="020B0004020202020204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6D803B"/>
          </a:solidFill>
          <a:ln w="12700">
            <a:noFill/>
            <a:prstDash val="solid"/>
          </a:ln>
          <a:extLst>
            <a:ext uri="{91240B29-F687-4F45-9708-019B960494DF}">
              <a14:hiddenLine xmlns:a14="http://schemas.microsoft.com/office/drawing/2010/main" w="12700">
                <a:solidFill>
                  <a:srgbClr val="C88A2C"/>
                </a:solidFill>
                <a:prstDash val="soli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D676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ViT </a:t>
            </a:r>
            <a:r>
              <a:rPr lang="en-US" sz="850" b="1" dirty="0">
                <a:solidFill>
                  <a:srgbClr val="5D676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50" b="1" dirty="0">
              <a:solidFill>
                <a:srgbClr val="5D676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4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291F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Bonus comparison: a pretrained ViT-GPT2 model produced more natural captions.</a:t>
            </a:r>
            <a:endParaRPr lang="en-US" sz="2800" b="1" dirty="0">
              <a:solidFill>
                <a:srgbClr val="2F291F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Image 0" descr="C:\image_caption_proj_stuff\model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1" y="1574800"/>
            <a:ext cx="4919317" cy="3835400"/>
          </a:xfrm>
          <a:prstGeom prst="rect">
            <a:avLst/>
          </a:prstGeom>
          <a:ln w="9525">
            <a:solidFill>
              <a:srgbClr val="BAC7CF"/>
            </a:solidFill>
          </a:ln>
        </p:spPr>
      </p:pic>
      <p:sp>
        <p:nvSpPr>
          <p:cNvPr id="6" name="Shape 3"/>
          <p:cNvSpPr/>
          <p:nvPr/>
        </p:nvSpPr>
        <p:spPr>
          <a:xfrm>
            <a:off x="6629400" y="1574800"/>
            <a:ext cx="4480560" cy="38354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BAC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59600" y="1879600"/>
            <a:ext cx="3619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291F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What changed?</a:t>
            </a:r>
            <a:endParaRPr lang="en-US" sz="2000" b="1" dirty="0">
              <a:solidFill>
                <a:srgbClr val="2F291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04622" y="4953000"/>
            <a:ext cx="40649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25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*The first two models are the trained project; ViT-GPT2 is a bonus benchmark for modern pretrained models.</a:t>
            </a:r>
            <a:endParaRPr lang="en-US" sz="950" dirty="0">
              <a:solidFill>
                <a:srgbClr val="5F625B"/>
              </a:solidFill>
              <a:latin typeface="Aptos" panose="020B00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>
                <a:solidFill>
                  <a:srgbClr val="5D676F"/>
                </a:solidFill>
              </a:rPr>
              <a:t>11</a:t>
            </a:r>
            <a:endParaRPr lang="en-US">
              <a:solidFill>
                <a:srgbClr val="5D676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4E51A-6335-995E-5FFC-6358C4578778}"/>
              </a:ext>
            </a:extLst>
          </p:cNvPr>
          <p:cNvSpPr txBox="1"/>
          <p:nvPr/>
        </p:nvSpPr>
        <p:spPr>
          <a:xfrm>
            <a:off x="6959600" y="2438400"/>
            <a:ext cx="3810000" cy="16466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50">
                <a:solidFill>
                  <a:srgbClr val="5F625B"/>
                </a:solidFill>
                <a:latin typeface="Aptos" panose="020B0004020202020204" pitchFamily="34" charset="0"/>
              </a:rPr>
              <a:t>- ViT is a Vision Transformer that reads image patches with attention.</a:t>
            </a:r>
          </a:p>
          <a:p>
            <a:pPr>
              <a:spcAft>
                <a:spcPts val="600"/>
              </a:spcAft>
            </a:pPr>
            <a:r>
              <a:rPr lang="en-US" sz="1150">
                <a:solidFill>
                  <a:srgbClr val="5F625B"/>
                </a:solidFill>
                <a:latin typeface="Aptos" panose="020B0004020202020204" pitchFamily="34" charset="0"/>
              </a:rPr>
              <a:t>- GPT-2 is the language decoder that writes the caption word by word.</a:t>
            </a:r>
          </a:p>
          <a:p>
            <a:pPr>
              <a:spcAft>
                <a:spcPts val="600"/>
              </a:spcAft>
            </a:pPr>
            <a:r>
              <a:rPr lang="en-US" sz="1150">
                <a:solidFill>
                  <a:srgbClr val="5F625B"/>
                </a:solidFill>
                <a:latin typeface="Aptos" panose="020B0004020202020204" pitchFamily="34" charset="0"/>
              </a:rPr>
              <a:t>- The model was pretrained, so it was not counted as one of the two trained project models.</a:t>
            </a:r>
          </a:p>
          <a:p>
            <a:pPr>
              <a:spcAft>
                <a:spcPts val="600"/>
              </a:spcAft>
            </a:pPr>
            <a:r>
              <a:rPr lang="en-US" sz="1150">
                <a:solidFill>
                  <a:srgbClr val="5F625B"/>
                </a:solidFill>
                <a:latin typeface="Aptos" panose="020B0004020202020204" pitchFamily="34" charset="0"/>
              </a:rPr>
              <a:t>- It shows why transformer vision-language models can outperform CNN + LSTM captioning.</a:t>
            </a:r>
            <a:endParaRPr lang="en-US" sz="1150" dirty="0">
              <a:solidFill>
                <a:srgbClr val="5F625B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9184"/>
            <a:ext cx="146304" cy="146304"/>
          </a:xfrm>
          <a:prstGeom prst="rect">
            <a:avLst/>
          </a:prstGeom>
          <a:solidFill>
            <a:srgbClr val="357C6B"/>
          </a:solidFill>
          <a:ln w="12700">
            <a:solidFill>
              <a:srgbClr val="357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2880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5E55"/>
                </a:solidFill>
                <a:latin typeface="Aptos" pitchFamily="34" charset="0"/>
              </a:rPr>
              <a:t>ETHICS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71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b="0"/>
              <a:t>12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438BA-7F9D-E3FB-B3C9-1DBAFCCE5AF0}"/>
              </a:ext>
            </a:extLst>
          </p:cNvPr>
          <p:cNvSpPr txBox="1"/>
          <p:nvPr/>
        </p:nvSpPr>
        <p:spPr>
          <a:xfrm>
            <a:off x="502920" y="673100"/>
            <a:ext cx="102235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F291F"/>
                </a:solidFill>
                <a:latin typeface="Aptos Display" panose="020B0004020202020204" pitchFamily="34" charset="0"/>
              </a:rPr>
              <a:t>Responsible image captioning requires accuracy, fairness, and transparency.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FB8140-AC46-8848-AA27-50843FA73086}"/>
              </a:ext>
            </a:extLst>
          </p:cNvPr>
          <p:cNvSpPr txBox="1"/>
          <p:nvPr/>
        </p:nvSpPr>
        <p:spPr>
          <a:xfrm>
            <a:off x="736600" y="1739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2F291F"/>
                </a:solidFill>
                <a:latin typeface="Aptos" panose="020B0004020202020204" pitchFamily="34" charset="0"/>
              </a:rPr>
              <a:t>Main risks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8BF9B3-39F8-D87C-F9DD-E1675134EC1A}"/>
              </a:ext>
            </a:extLst>
          </p:cNvPr>
          <p:cNvSpPr txBox="1"/>
          <p:nvPr/>
        </p:nvSpPr>
        <p:spPr>
          <a:xfrm>
            <a:off x="6096000" y="1732486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2F291F"/>
                </a:solidFill>
                <a:latin typeface="Aptos" panose="020B0004020202020204" pitchFamily="34" charset="0"/>
              </a:rPr>
              <a:t>Responsible 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52E31-5DF8-5849-64A0-52B5D7A38CA8}"/>
              </a:ext>
            </a:extLst>
          </p:cNvPr>
          <p:cNvSpPr txBox="1"/>
          <p:nvPr/>
        </p:nvSpPr>
        <p:spPr>
          <a:xfrm>
            <a:off x="736600" y="2336800"/>
            <a:ext cx="4254500" cy="10567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F625B"/>
                </a:solidFill>
                <a:latin typeface="Aptos" panose="020B0004020202020204" pitchFamily="34" charset="0"/>
              </a:rPr>
              <a:t>Bias in training data can affect captions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F625B"/>
                </a:solidFill>
                <a:latin typeface="Aptos" panose="020B0004020202020204" pitchFamily="34" charset="0"/>
              </a:rPr>
              <a:t>Incorrect captions can mislead users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F625B"/>
                </a:solidFill>
                <a:latin typeface="Aptos" panose="020B0004020202020204" pitchFamily="34" charset="0"/>
              </a:rPr>
              <a:t>Privacy matters when images include people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195B9-D09A-8FC0-304F-DE7CC28C2E26}"/>
              </a:ext>
            </a:extLst>
          </p:cNvPr>
          <p:cNvSpPr txBox="1"/>
          <p:nvPr/>
        </p:nvSpPr>
        <p:spPr>
          <a:xfrm>
            <a:off x="6096000" y="2336800"/>
            <a:ext cx="4699000" cy="10567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F625B"/>
                </a:solidFill>
                <a:latin typeface="Aptos" panose="020B0004020202020204" pitchFamily="34" charset="0"/>
              </a:rPr>
              <a:t>Use captions as assistance, not proof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F625B"/>
                </a:solidFill>
                <a:latin typeface="Aptos" panose="020B0004020202020204" pitchFamily="34" charset="0"/>
              </a:rPr>
              <a:t>Warn users that captions may be wrong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F625B"/>
                </a:solidFill>
                <a:latin typeface="Aptos" panose="020B0004020202020204" pitchFamily="34" charset="0"/>
              </a:rPr>
              <a:t>Review high-impact or sensitive outputs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A045B3-DE5F-CCCE-EFCF-2CC22158E0FF}"/>
              </a:ext>
            </a:extLst>
          </p:cNvPr>
          <p:cNvCxnSpPr/>
          <p:nvPr/>
        </p:nvCxnSpPr>
        <p:spPr>
          <a:xfrm>
            <a:off x="1041400" y="4673600"/>
            <a:ext cx="10007600" cy="0"/>
          </a:xfrm>
          <a:prstGeom prst="line">
            <a:avLst/>
          </a:prstGeom>
          <a:ln w="12700">
            <a:solidFill>
              <a:srgbClr val="C1CE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BA90A3-1FA0-ADA7-3673-C202629E10AE}"/>
              </a:ext>
            </a:extLst>
          </p:cNvPr>
          <p:cNvSpPr txBox="1"/>
          <p:nvPr/>
        </p:nvSpPr>
        <p:spPr>
          <a:xfrm>
            <a:off x="1041400" y="5016500"/>
            <a:ext cx="152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2D6B52"/>
                </a:solidFill>
                <a:latin typeface="Aptos" panose="020B0004020202020204" pitchFamily="34" charset="0"/>
              </a:rPr>
              <a:t>Ethics takeaway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8F2E7-7D21-F0C0-1A54-DD65156694A2}"/>
              </a:ext>
            </a:extLst>
          </p:cNvPr>
          <p:cNvSpPr txBox="1"/>
          <p:nvPr/>
        </p:nvSpPr>
        <p:spPr>
          <a:xfrm>
            <a:off x="1041400" y="5384800"/>
            <a:ext cx="9969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2F291F"/>
                </a:solidFill>
                <a:latin typeface="Aptos" panose="020B0004020202020204" pitchFamily="34" charset="0"/>
              </a:rPr>
              <a:t>An image captioning system should be useful, but it should also be honest about uncertainty and tested for harm before people rely on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4883B-ED7C-C221-29EB-6122B280BD89}"/>
              </a:ext>
            </a:extLst>
          </p:cNvPr>
          <p:cNvSpPr txBox="1"/>
          <p:nvPr/>
        </p:nvSpPr>
        <p:spPr>
          <a:xfrm>
            <a:off x="770792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556265"/>
                </a:solidFill>
                <a:latin typeface="Aptos" panose="020B0004020202020204" pitchFamily="34" charset="0"/>
              </a:rPr>
              <a:t>Q&amp;A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8B350-1228-A9A3-825F-FC02D9B3205D}"/>
              </a:ext>
            </a:extLst>
          </p:cNvPr>
          <p:cNvSpPr txBox="1"/>
          <p:nvPr/>
        </p:nvSpPr>
        <p:spPr>
          <a:xfrm>
            <a:off x="533400" y="711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2F291F"/>
                </a:solidFill>
                <a:latin typeface="Aptos" panose="020B0004020202020204" pitchFamily="34" charset="0"/>
              </a:rPr>
              <a:t>Q&amp;A: Dataset and model behavior</a:t>
            </a:r>
            <a:endParaRPr lang="en-US" sz="2400" b="1" dirty="0">
              <a:solidFill>
                <a:srgbClr val="2F291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34768-3727-622D-6494-4E127D3EA368}"/>
              </a:ext>
            </a:extLst>
          </p:cNvPr>
          <p:cNvSpPr txBox="1"/>
          <p:nvPr/>
        </p:nvSpPr>
        <p:spPr>
          <a:xfrm>
            <a:off x="11430000" y="6553200"/>
            <a:ext cx="444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D676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F5FDA2-78FD-C3E2-8B9B-67909F066FB6}"/>
              </a:ext>
            </a:extLst>
          </p:cNvPr>
          <p:cNvSpPr txBox="1"/>
          <p:nvPr/>
        </p:nvSpPr>
        <p:spPr>
          <a:xfrm>
            <a:off x="965200" y="1650999"/>
            <a:ext cx="304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1. Why did you choose the Flickr8k dataset?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B307C-36ED-54F4-F10A-67DD5992EC59}"/>
              </a:ext>
            </a:extLst>
          </p:cNvPr>
          <p:cNvSpPr txBox="1"/>
          <p:nvPr/>
        </p:nvSpPr>
        <p:spPr>
          <a:xfrm>
            <a:off x="965200" y="2082800"/>
            <a:ext cx="3048000" cy="6565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Common benchmark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Small enough to train locally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Created the first baseline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15AA67-75B2-37C4-3254-A9C78DC4B4A5}"/>
              </a:ext>
            </a:extLst>
          </p:cNvPr>
          <p:cNvSpPr txBox="1"/>
          <p:nvPr/>
        </p:nvSpPr>
        <p:spPr>
          <a:xfrm>
            <a:off x="4622800" y="1650999"/>
            <a:ext cx="304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2. Why do you think the model struggled with some images?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E10E35-DCB8-2591-12EF-DFC60AFE14D2}"/>
              </a:ext>
            </a:extLst>
          </p:cNvPr>
          <p:cNvSpPr txBox="1"/>
          <p:nvPr/>
        </p:nvSpPr>
        <p:spPr>
          <a:xfrm>
            <a:off x="4622800" y="2082800"/>
            <a:ext cx="3048000" cy="6565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Learned common caption patterns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Best on simple scenes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Harder with unusual objects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7E915E-2B95-2F44-443A-8D94B3B6242F}"/>
              </a:ext>
            </a:extLst>
          </p:cNvPr>
          <p:cNvSpPr txBox="1"/>
          <p:nvPr/>
        </p:nvSpPr>
        <p:spPr>
          <a:xfrm>
            <a:off x="8280400" y="1651000"/>
            <a:ext cx="304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3. How did you prevent overfitting?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F567D-8F42-8C80-216A-BAD775DD3C89}"/>
              </a:ext>
            </a:extLst>
          </p:cNvPr>
          <p:cNvSpPr txBox="1"/>
          <p:nvPr/>
        </p:nvSpPr>
        <p:spPr>
          <a:xfrm>
            <a:off x="8280400" y="2082800"/>
            <a:ext cx="3048000" cy="6565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Split data by image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Used dropout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Watched validation results</a:t>
            </a:r>
          </a:p>
        </p:txBody>
      </p:sp>
    </p:spTree>
    <p:extLst>
      <p:ext uri="{BB962C8B-B14F-4D97-AF65-F5344CB8AC3E}">
        <p14:creationId xmlns:p14="http://schemas.microsoft.com/office/powerpoint/2010/main" val="2286085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5DE3A-C561-B82E-17C7-037957AAF9A5}"/>
              </a:ext>
            </a:extLst>
          </p:cNvPr>
          <p:cNvSpPr txBox="1"/>
          <p:nvPr/>
        </p:nvSpPr>
        <p:spPr>
          <a:xfrm>
            <a:off x="762000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556265"/>
                </a:solidFill>
                <a:latin typeface="Aptos" panose="020B0004020202020204" pitchFamily="34" charset="0"/>
              </a:rPr>
              <a:t>Q&amp;A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E151B-61B7-6364-B558-FD776F7026A1}"/>
              </a:ext>
            </a:extLst>
          </p:cNvPr>
          <p:cNvSpPr txBox="1"/>
          <p:nvPr/>
        </p:nvSpPr>
        <p:spPr>
          <a:xfrm>
            <a:off x="533400" y="711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2F291F"/>
                </a:solidFill>
                <a:latin typeface="Aptos" panose="020B0004020202020204" pitchFamily="34" charset="0"/>
              </a:rPr>
              <a:t>Q&amp;A: Evaluation and next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890B2-F602-A798-5094-59725EB6DBD1}"/>
              </a:ext>
            </a:extLst>
          </p:cNvPr>
          <p:cNvSpPr txBox="1"/>
          <p:nvPr/>
        </p:nvSpPr>
        <p:spPr>
          <a:xfrm>
            <a:off x="11430000" y="6553200"/>
            <a:ext cx="444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D676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E60AD8-8CD2-A9A8-3CFA-4E2243D56544}"/>
              </a:ext>
            </a:extLst>
          </p:cNvPr>
          <p:cNvSpPr txBox="1"/>
          <p:nvPr/>
        </p:nvSpPr>
        <p:spPr>
          <a:xfrm>
            <a:off x="965200" y="1650999"/>
            <a:ext cx="304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4. What improvements would you make if you had more time?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599269-B694-465A-DEEA-E7B7CC3948BB}"/>
              </a:ext>
            </a:extLst>
          </p:cNvPr>
          <p:cNvSpPr txBox="1"/>
          <p:nvPr/>
        </p:nvSpPr>
        <p:spPr>
          <a:xfrm>
            <a:off x="965200" y="2082800"/>
            <a:ext cx="3048000" cy="6565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Add attention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Tune hyperparameters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Try transformer models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910D0E-2FA1-B3C4-FCFF-5344D34F77A6}"/>
              </a:ext>
            </a:extLst>
          </p:cNvPr>
          <p:cNvSpPr txBox="1"/>
          <p:nvPr/>
        </p:nvSpPr>
        <p:spPr>
          <a:xfrm>
            <a:off x="4622800" y="1650999"/>
            <a:ext cx="304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5. How would you measure success beyond BLEU scores?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2BDCA5-EE1D-7EC6-07B5-A4B1C883DB08}"/>
              </a:ext>
            </a:extLst>
          </p:cNvPr>
          <p:cNvSpPr txBox="1"/>
          <p:nvPr/>
        </p:nvSpPr>
        <p:spPr>
          <a:xfrm>
            <a:off x="4622800" y="2082800"/>
            <a:ext cx="3048000" cy="6565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Human review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Object accuracy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Real upload testing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FFE5DE-B5EA-BD2E-741E-E8D6AA8FD218}"/>
              </a:ext>
            </a:extLst>
          </p:cNvPr>
          <p:cNvSpPr txBox="1"/>
          <p:nvPr/>
        </p:nvSpPr>
        <p:spPr>
          <a:xfrm>
            <a:off x="8280400" y="1650999"/>
            <a:ext cx="304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6. If you were building this for a company, what would be your next step?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1E5E9-4DF0-40B5-CF42-9D05F1A695EF}"/>
              </a:ext>
            </a:extLst>
          </p:cNvPr>
          <p:cNvSpPr txBox="1"/>
          <p:nvPr/>
        </p:nvSpPr>
        <p:spPr>
          <a:xfrm>
            <a:off x="8280400" y="2082800"/>
            <a:ext cx="3048000" cy="6565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Define the use case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Collect domain images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5F625B"/>
                </a:solidFill>
                <a:latin typeface="Aptos" panose="020B0004020202020204" pitchFamily="34" charset="0"/>
              </a:rPr>
              <a:t>- Add human review</a:t>
            </a:r>
          </a:p>
        </p:txBody>
      </p:sp>
    </p:spTree>
    <p:extLst>
      <p:ext uri="{BB962C8B-B14F-4D97-AF65-F5344CB8AC3E}">
        <p14:creationId xmlns:p14="http://schemas.microsoft.com/office/powerpoint/2010/main" val="1459319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9B178-6FCA-9BF1-2022-90B0B79A9F97}"/>
              </a:ext>
            </a:extLst>
          </p:cNvPr>
          <p:cNvSpPr txBox="1"/>
          <p:nvPr/>
        </p:nvSpPr>
        <p:spPr>
          <a:xfrm>
            <a:off x="762000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556265"/>
                </a:solidFill>
                <a:latin typeface="Aptos" panose="020B0004020202020204" pitchFamily="34" charset="0"/>
              </a:rPr>
              <a:t>Q&amp;A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BEF9D-508B-D6B3-62E8-D34164A40714}"/>
              </a:ext>
            </a:extLst>
          </p:cNvPr>
          <p:cNvSpPr txBox="1"/>
          <p:nvPr/>
        </p:nvSpPr>
        <p:spPr>
          <a:xfrm>
            <a:off x="533400" y="711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2F291F"/>
                </a:solidFill>
                <a:latin typeface="Aptos" panose="020B0004020202020204" pitchFamily="34" charset="0"/>
              </a:rPr>
              <a:t>Q&amp;A: Ethics, risk, and bias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D11A7-DEEC-12C3-CE21-F7BC35C34725}"/>
              </a:ext>
            </a:extLst>
          </p:cNvPr>
          <p:cNvSpPr txBox="1"/>
          <p:nvPr/>
        </p:nvSpPr>
        <p:spPr>
          <a:xfrm>
            <a:off x="11430000" y="6553200"/>
            <a:ext cx="444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D676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9C61BC-4AC7-08EF-CE0F-67689E1231DF}"/>
              </a:ext>
            </a:extLst>
          </p:cNvPr>
          <p:cNvSpPr txBox="1"/>
          <p:nvPr/>
        </p:nvSpPr>
        <p:spPr>
          <a:xfrm>
            <a:off x="965200" y="1549399"/>
            <a:ext cx="457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 dirty="0">
                <a:solidFill>
                  <a:srgbClr val="2F291F"/>
                </a:solidFill>
                <a:latin typeface="Aptos" panose="020B0004020202020204" pitchFamily="34" charset="0"/>
              </a:rPr>
              <a:t>7. Who is responsible when an AI-generated caption is wrong?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BDAC20-D2E7-2533-36CF-2CBCF95EB7E3}"/>
              </a:ext>
            </a:extLst>
          </p:cNvPr>
          <p:cNvSpPr txBox="1"/>
          <p:nvPr/>
        </p:nvSpPr>
        <p:spPr>
          <a:xfrm>
            <a:off x="965200" y="1981199"/>
            <a:ext cx="4572000" cy="6796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The organization using it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Developers must test limits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Captions are assistive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8325A7-5E0C-EDEF-BED2-C8A050D00C7D}"/>
              </a:ext>
            </a:extLst>
          </p:cNvPr>
          <p:cNvSpPr txBox="1"/>
          <p:nvPr/>
        </p:nvSpPr>
        <p:spPr>
          <a:xfrm>
            <a:off x="6565900" y="1549400"/>
            <a:ext cx="457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2F291F"/>
                </a:solidFill>
                <a:latin typeface="Aptos" panose="020B0004020202020204" pitchFamily="34" charset="0"/>
              </a:rPr>
              <a:t>8. Could the model exhibit bias when generating captions?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69C748-5E88-4093-05C2-7B18EC4F36A6}"/>
              </a:ext>
            </a:extLst>
          </p:cNvPr>
          <p:cNvSpPr txBox="1"/>
          <p:nvPr/>
        </p:nvSpPr>
        <p:spPr>
          <a:xfrm>
            <a:off x="6565900" y="1981199"/>
            <a:ext cx="4572000" cy="6796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Yes, from training data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Some patterns may be overlearned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Some scenes may be misread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1A8DC-C8D1-2A48-BB6A-42C74A3E96BB}"/>
              </a:ext>
            </a:extLst>
          </p:cNvPr>
          <p:cNvSpPr txBox="1"/>
          <p:nvPr/>
        </p:nvSpPr>
        <p:spPr>
          <a:xfrm>
            <a:off x="965200" y="4038599"/>
            <a:ext cx="457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2F291F"/>
                </a:solidFill>
                <a:latin typeface="Aptos" panose="020B0004020202020204" pitchFamily="34" charset="0"/>
              </a:rPr>
              <a:t>9. What are the risks if the model generates inaccurate captions?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86D428-F083-F16F-953C-748A7C669940}"/>
              </a:ext>
            </a:extLst>
          </p:cNvPr>
          <p:cNvSpPr txBox="1"/>
          <p:nvPr/>
        </p:nvSpPr>
        <p:spPr>
          <a:xfrm>
            <a:off x="965200" y="4470399"/>
            <a:ext cx="4572000" cy="6796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Users may be misled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Accessibility trust can be harmed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Fairness concerns can increase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BA3120-C37C-B717-2845-71DC8E11F5C0}"/>
              </a:ext>
            </a:extLst>
          </p:cNvPr>
          <p:cNvSpPr txBox="1"/>
          <p:nvPr/>
        </p:nvSpPr>
        <p:spPr>
          <a:xfrm>
            <a:off x="6565900" y="4038600"/>
            <a:ext cx="457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2F291F"/>
                </a:solidFill>
                <a:latin typeface="Aptos" panose="020B0004020202020204" pitchFamily="34" charset="0"/>
              </a:rPr>
              <a:t>10. How can bias be reduced in image captioning systems?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D77B1D-DEAD-25DC-E361-23909F7BAA08}"/>
              </a:ext>
            </a:extLst>
          </p:cNvPr>
          <p:cNvSpPr txBox="1"/>
          <p:nvPr/>
        </p:nvSpPr>
        <p:spPr>
          <a:xfrm>
            <a:off x="6565900" y="4470399"/>
            <a:ext cx="4572000" cy="6796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Use more diverse data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Audit errors regularly</a:t>
            </a:r>
          </a:p>
          <a:p>
            <a:pPr>
              <a:spcAft>
                <a:spcPts val="400"/>
              </a:spcAft>
            </a:pPr>
            <a:r>
              <a:rPr lang="en-US" sz="1250">
                <a:solidFill>
                  <a:srgbClr val="5F625B"/>
                </a:solidFill>
                <a:latin typeface="Aptos" panose="020B0004020202020204" pitchFamily="34" charset="0"/>
              </a:rPr>
              <a:t>- Add review and warnings</a:t>
            </a:r>
          </a:p>
        </p:txBody>
      </p:sp>
    </p:spTree>
    <p:extLst>
      <p:ext uri="{BB962C8B-B14F-4D97-AF65-F5344CB8AC3E}">
        <p14:creationId xmlns:p14="http://schemas.microsoft.com/office/powerpoint/2010/main" val="2046685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1ED28C-2A15-4CB6-D253-8A2FEC55FC92}"/>
              </a:ext>
            </a:extLst>
          </p:cNvPr>
          <p:cNvSpPr/>
          <p:nvPr/>
        </p:nvSpPr>
        <p:spPr>
          <a:xfrm>
            <a:off x="533400" y="368300"/>
            <a:ext cx="127000" cy="127000"/>
          </a:xfrm>
          <a:prstGeom prst="rect">
            <a:avLst/>
          </a:prstGeom>
          <a:solidFill>
            <a:srgbClr val="5C6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C1C35-CFCA-E5EB-2C38-EB31A7B85758}"/>
              </a:ext>
            </a:extLst>
          </p:cNvPr>
          <p:cNvSpPr txBox="1"/>
          <p:nvPr/>
        </p:nvSpPr>
        <p:spPr>
          <a:xfrm>
            <a:off x="762000" y="355600"/>
            <a:ext cx="355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556265"/>
                </a:solidFill>
                <a:latin typeface="Aptos" panose="020B0004020202020204" pitchFamily="34" charset="0"/>
              </a:rPr>
              <a:t>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5438D-6621-B4B2-B45F-216DAE23336D}"/>
              </a:ext>
            </a:extLst>
          </p:cNvPr>
          <p:cNvSpPr txBox="1"/>
          <p:nvPr/>
        </p:nvSpPr>
        <p:spPr>
          <a:xfrm>
            <a:off x="5334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C251E"/>
                </a:solidFill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ADA51-36C9-CAD5-8320-5B0F850FFB4F}"/>
              </a:ext>
            </a:extLst>
          </p:cNvPr>
          <p:cNvSpPr txBox="1"/>
          <p:nvPr/>
        </p:nvSpPr>
        <p:spPr>
          <a:xfrm>
            <a:off x="914400" y="1676399"/>
            <a:ext cx="10160000" cy="33020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F291F"/>
                </a:solidFill>
                <a:latin typeface="Aptos" panose="020B0004020202020204" pitchFamily="34" charset="0"/>
              </a:rPr>
              <a:t>• Flickr8k dataset: https://www.kaggle.com/datasets/adityajn105/flickr8k/data</a:t>
            </a:r>
          </a:p>
          <a:p>
            <a:pPr>
              <a:spcAft>
                <a:spcPts val="200"/>
              </a:spcAft>
            </a:pPr>
            <a:endParaRPr lang="en-US" sz="1150" dirty="0">
              <a:solidFill>
                <a:srgbClr val="2F291F"/>
              </a:solidFill>
              <a:latin typeface="Aptos" panose="020B00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F291F"/>
                </a:solidFill>
                <a:latin typeface="Aptos" panose="020B0004020202020204" pitchFamily="34" charset="0"/>
              </a:rPr>
              <a:t>• Flickr30k dataset: https://www.kaggle.com/datasets/eeshawn/flickr30k</a:t>
            </a:r>
          </a:p>
          <a:p>
            <a:pPr>
              <a:spcAft>
                <a:spcPts val="200"/>
              </a:spcAft>
            </a:pPr>
            <a:endParaRPr lang="en-US" sz="1150" dirty="0">
              <a:solidFill>
                <a:srgbClr val="2F291F"/>
              </a:solidFill>
              <a:latin typeface="Aptos" panose="020B00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F291F"/>
                </a:solidFill>
                <a:latin typeface="Aptos" panose="020B0004020202020204" pitchFamily="34" charset="0"/>
              </a:rPr>
              <a:t>• Hugging Face ViT-GPT2 pretrained model: https://huggingface.co/nlpconnect/vit-gpt2-image-captioning</a:t>
            </a:r>
          </a:p>
          <a:p>
            <a:pPr>
              <a:spcAft>
                <a:spcPts val="200"/>
              </a:spcAft>
            </a:pPr>
            <a:endParaRPr lang="en-US" sz="1150" dirty="0">
              <a:solidFill>
                <a:srgbClr val="2F291F"/>
              </a:solidFill>
              <a:latin typeface="Aptos" panose="020B00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F291F"/>
                </a:solidFill>
                <a:latin typeface="Aptos" panose="020B0004020202020204" pitchFamily="34" charset="0"/>
              </a:rPr>
              <a:t>• CNN + LSTM image caption generator reference: https://data-flair.training/blogs/python-based-project-image-caption-generator-cnn/</a:t>
            </a:r>
          </a:p>
          <a:p>
            <a:pPr>
              <a:spcAft>
                <a:spcPts val="200"/>
              </a:spcAft>
            </a:pPr>
            <a:endParaRPr lang="en-US" sz="1150" dirty="0">
              <a:solidFill>
                <a:srgbClr val="2F291F"/>
              </a:solidFill>
              <a:latin typeface="Aptos" panose="020B00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F291F"/>
                </a:solidFill>
                <a:latin typeface="Aptos" panose="020B0004020202020204" pitchFamily="34" charset="0"/>
              </a:rPr>
              <a:t>• TensorFlow image captioning guide: https://medium.com/@khaledeemam/a-step-by-step-guide-to-building-an-image-caption-generator-using-tensorflow-a9e0a87cc0cb</a:t>
            </a:r>
          </a:p>
          <a:p>
            <a:pPr>
              <a:spcAft>
                <a:spcPts val="200"/>
              </a:spcAft>
            </a:pPr>
            <a:endParaRPr lang="en-US" sz="1150" dirty="0">
              <a:solidFill>
                <a:srgbClr val="2F291F"/>
              </a:solidFill>
              <a:latin typeface="Aptos" panose="020B00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F291F"/>
                </a:solidFill>
                <a:latin typeface="Aptos" panose="020B0004020202020204" pitchFamily="34" charset="0"/>
              </a:rPr>
              <a:t>• VGG16 implementation reference: https://builtin.com/machine-learning/vgg16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591D1D-9F7F-52E3-8CA2-36845383BF47}"/>
              </a:ext>
            </a:extLst>
          </p:cNvPr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E5C835-F3F6-7B55-9ECE-EFFA47FBB221}"/>
              </a:ext>
            </a:extLst>
          </p:cNvPr>
          <p:cNvSpPr txBox="1"/>
          <p:nvPr/>
        </p:nvSpPr>
        <p:spPr>
          <a:xfrm>
            <a:off x="533400" y="6553200"/>
            <a:ext cx="3175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667178"/>
                </a:solidFill>
                <a:latin typeface="Aptos" panose="020B0004020202020204" pitchFamily="34" charset="0"/>
              </a:rPr>
              <a:t>Image Caption Generation | DSC 680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B7A7B-53EB-E2E1-DEC3-4838AEA02599}"/>
              </a:ext>
            </a:extLst>
          </p:cNvPr>
          <p:cNvSpPr txBox="1"/>
          <p:nvPr/>
        </p:nvSpPr>
        <p:spPr>
          <a:xfrm>
            <a:off x="11430000" y="6553200"/>
            <a:ext cx="4445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667178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36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1501</Words>
  <Application>Microsoft Office PowerPoint</Application>
  <PresentationFormat>Widescreen</PresentationFormat>
  <Paragraphs>250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Bellevue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 Generation Model Comparison</dc:title>
  <dc:subject>Comparative Analysis of Deep Learning Architectures for Image Caption Generation</dc:subject>
  <dc:creator>Joanna Sierra-Mendoza</dc:creator>
  <cp:lastModifiedBy>Joanna Sierra-Mendoza</cp:lastModifiedBy>
  <cp:revision>54</cp:revision>
  <dcterms:created xsi:type="dcterms:W3CDTF">2026-05-27T07:10:41Z</dcterms:created>
  <dcterms:modified xsi:type="dcterms:W3CDTF">2026-05-29T11:22:43Z</dcterms:modified>
</cp:coreProperties>
</file>